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306" r:id="rId2"/>
    <p:sldId id="302" r:id="rId3"/>
    <p:sldId id="309" r:id="rId4"/>
    <p:sldId id="308" r:id="rId5"/>
    <p:sldId id="310" r:id="rId6"/>
    <p:sldId id="311" r:id="rId7"/>
    <p:sldId id="313" r:id="rId8"/>
    <p:sldId id="314" r:id="rId9"/>
    <p:sldId id="316" r:id="rId10"/>
    <p:sldId id="312" r:id="rId11"/>
    <p:sldId id="315" r:id="rId12"/>
  </p:sldIdLst>
  <p:sldSz cx="12192000" cy="6858000"/>
  <p:notesSz cx="6858000" cy="9144000"/>
  <p:embeddedFontLst>
    <p:embeddedFont>
      <p:font typeface="Microsoft JhengHei" panose="020B0604030504040204" pitchFamily="34" charset="-120"/>
      <p:regular r:id="rId14"/>
      <p:bold r:id="rId15"/>
    </p:embeddedFont>
    <p:embeddedFont>
      <p:font typeface="Microsoft JhengHei UI" panose="020B0604030504040204" pitchFamily="34" charset="-12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4" roundtripDataSignature="AMtx7mgGulMeNBdImq1bpH7GVX7XaJTG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F5D6"/>
    <a:srgbClr val="4472C4"/>
    <a:srgbClr val="CDD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E8DF6F-0AC8-44B3-AD68-99827F54DC18}">
  <a:tblStyle styleId="{CAE8DF6F-0AC8-44B3-AD68-99827F54DC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EB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EB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95AF51B-3FC6-4A1C-8DDA-F010F94E435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E997F02-6487-4EF7-BD65-6A18792F6EB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BF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E8EBF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37C76-AF81-4327-8460-614F0B5DF5A0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CE7"/>
          </a:solidFill>
        </a:fill>
      </a:tcStyle>
    </a:wholeTbl>
    <a:band1H>
      <a:tcTxStyle b="off" i="off"/>
      <a:tcStyle>
        <a:tcBdr/>
        <a:fill>
          <a:solidFill>
            <a:srgbClr val="F8D6CC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8D6CC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CECE7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FCECE7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A07FB09-2E20-469D-909E-3717A65D1AE9}" styleName="Table_4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95" Type="http://schemas.openxmlformats.org/officeDocument/2006/relationships/presProps" Target="presProps.xml"/><Relationship Id="rId10" Type="http://schemas.openxmlformats.org/officeDocument/2006/relationships/slide" Target="slides/slide9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5" name="Google Shape;7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433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4958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7968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6927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0892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971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3351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621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848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>
            <a:alpha val="80000"/>
          </a:srgbClr>
        </a:solidFill>
        <a:effectLst/>
      </p:bgPr>
    </p:bg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衍生性金融商品</a:t>
            </a:r>
            <a:r>
              <a:rPr lang="zh-TW" b="1" dirty="0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–</a:t>
            </a:r>
            <a:r>
              <a:rPr lang="zh-TW" b="1" dirty="0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期貨</a:t>
            </a:r>
            <a:endParaRPr b="1" dirty="0">
              <a:solidFill>
                <a:srgbClr val="0070C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8" name="Google Shape;718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>
            <a:alpha val="80000"/>
          </a:srgbClr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637598" y="1276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衍生性金融商品 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– 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2802BE-0127-D804-FE4F-66E5790BD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0277" y="871258"/>
            <a:ext cx="11436927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Futures = Standardized Forward Contract = </a:t>
            </a: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標準化遠期</a:t>
            </a: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契約</a:t>
            </a:r>
            <a:endParaRPr kumimoji="0" lang="en-US" altLang="zh-TW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由</a:t>
            </a: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</a:t>
            </a: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交易所制定規格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，概念是「買賣未來的承諾」，交易的是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對未來價格的預期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，而非當下的資產所有權</a:t>
            </a: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，且需要向</a:t>
            </a: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期貨商</a:t>
            </a: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開戶才能進行交易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期貨採取 </a:t>
            </a: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保證金</a:t>
            </a: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交易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（槓桿原理），僅需支付合約價值的一小部分即可參與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假設有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一口</a:t>
            </a:r>
            <a:r>
              <a:rPr lang="zh-TW" altLang="en-US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en-US" altLang="zh-TW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「台指期貨 (TX)」契約，目前指數 22,000 點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由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期貨交易所規定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，一點代表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200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元新台幣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點數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代表該期貨商品目前的 「</a:t>
            </a:r>
            <a:r>
              <a:rPr lang="zh-TW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指數價格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」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合約總價值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期貨指數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每點價值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 22,000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點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x 200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440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萬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，交易一口合約價值 440 萬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投資人保證金：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不需準備 440 萬，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期交所會依據市場波動風險來</a:t>
            </a:r>
            <a:r>
              <a:rPr lang="zh-TW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公告固定的</a:t>
            </a:r>
            <a:r>
              <a:rPr lang="zh-TW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原始保證金金額</a:t>
            </a:r>
            <a:r>
              <a:rPr lang="en-US" altLang="zh-TW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例如 </a:t>
            </a:r>
            <a:r>
              <a:rPr lang="en-US" altLang="zh-TW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 </a:t>
            </a:r>
            <a:r>
              <a:rPr lang="zh-TW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</a:t>
            </a:r>
            <a:endParaRPr kumimoji="0" lang="en-US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                        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只需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萬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放入專戶即可交易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損益計算：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( 賣出點數 - 買進點數 ) x 200 元 = 損益金額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代表當大盤指數漲跌時，期貨帳戶內的資金會隨之連動：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看漲買進 (做多)：指數漲到 22,100 點，賺 2 萬元 (100點 x 200元)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零和遊戲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有人賺錢必定有人賠錢，交易所不參與輸贏，僅負責公正結算</a:t>
            </a:r>
            <a:r>
              <a:rPr lang="zh-TW" altLang="en-US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endParaRPr kumimoji="0" lang="zh-TW" altLang="zh-TW" sz="16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雙向交易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跟股票比起來，期貨可以輕易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做多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或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做空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投資風險較高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具有高槓桿特性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且</a:t>
            </a:r>
            <a:r>
              <a:rPr lang="zh-TW" altLang="en-US" sz="1600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必須履約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，若</a:t>
            </a:r>
            <a:r>
              <a:rPr kumimoji="0" lang="zh-TW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維持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保證金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不足會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面臨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追繳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 </a:t>
            </a: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斷頭 (強制平倉</a:t>
            </a:r>
            <a:r>
              <a:rPr kumimoji="0" lang="en-US" altLang="zh-TW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嚴重時甚至產生負債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期貨合約有 </a:t>
            </a: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到期日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，時間一到必須結算，不能像股票一樣永久持有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設定到期日主因是因為本質是未來的買賣契約，所以到了最後一天，期貨就變成現貨，價格會在到期日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收斂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，不然就會有人無風險套利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就像考試一樣，考卷發下去供學生填寫，時間一到老師收卷打分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為避免結算價格受單一時間點的</a:t>
            </a:r>
            <a:r>
              <a:rPr lang="zh-TW" altLang="en-US" sz="16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異常波動操控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，期貨結算價會依商品類別，採用不同交易時段內的</a:t>
            </a:r>
            <a:r>
              <a:rPr lang="zh-TW" altLang="en-US" sz="16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成交價格算術平均值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來決定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93736A-148D-95FD-A644-3C5615013C2E}"/>
              </a:ext>
            </a:extLst>
          </p:cNvPr>
          <p:cNvSpPr txBox="1"/>
          <p:nvPr/>
        </p:nvSpPr>
        <p:spPr>
          <a:xfrm>
            <a:off x="551873" y="6169709"/>
            <a:ext cx="9201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1: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一口 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期貨交易的最小單位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，等同於支付保證金，買進一份總價值的合約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原始保證金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通常會落在合約價值的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5% ~ 8%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之間，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金額非固定不變，期交所會</a:t>
            </a:r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不定期調整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，波動越大，會調高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賺賠都在期貨市場的投資者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像在玩德州撲克，荷官是期交所 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不參與輸贏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，上桌的都是對手，你賺的錢其實就是對手賠的錢 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8804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期貨的目的</a:t>
            </a:r>
            <a:endParaRPr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D91FEAE-2FF2-D877-7522-6FCD51324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1427" y="942858"/>
            <a:ext cx="11289145" cy="559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避險</a:t>
            </a: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：這是期貨誕生的初衷。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        實體經濟持有者（如農夫、進口商）透過買賣期貨鎖定成本或利潤，將價格波動的風險轉</a:t>
            </a:r>
            <a:endParaRPr kumimoji="0" lang="en-US" altLang="zh-TW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        </a:t>
            </a: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移出去（</a:t>
            </a: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類似買保險</a:t>
            </a: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的概念）</a:t>
            </a:r>
            <a:r>
              <a:rPr kumimoji="0" lang="zh-TW" altLang="en-US" sz="11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kumimoji="0" lang="en-US" altLang="zh-TW" sz="11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endParaRPr kumimoji="0" lang="en-US" altLang="zh-TW" sz="14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情境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一位農夫，他預計 </a:t>
            </a:r>
            <a:r>
              <a:rPr lang="en-US" altLang="zh-TW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個月後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會收成一批小麥，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目前的市價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是每噸 </a:t>
            </a:r>
            <a:r>
              <a:rPr lang="en-US" altLang="zh-TW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500 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元，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他擔心 </a:t>
            </a:r>
            <a:r>
              <a:rPr lang="en-US" altLang="zh-TW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個月後小麥盛產，導致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價格崩盤 </a:t>
            </a:r>
            <a:r>
              <a:rPr lang="en-US" altLang="zh-TW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下跌</a:t>
            </a:r>
            <a:r>
              <a:rPr lang="en-US" altLang="zh-TW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，這會讓他賠本，所以他決定現在就在期貨市場 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「賣出 </a:t>
            </a:r>
            <a:r>
              <a:rPr lang="en-US" altLang="zh-TW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放空</a:t>
            </a:r>
            <a:r>
              <a:rPr lang="en-US" altLang="zh-TW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」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個月後到期的小麥期貨，價格鎖定在 </a:t>
            </a:r>
            <a:r>
              <a:rPr lang="en-US" altLang="zh-TW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500 </a:t>
            </a:r>
            <a:r>
              <a:rPr lang="zh-TW" altLang="en-US" sz="14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</a:t>
            </a:r>
            <a:endParaRPr lang="en-US" altLang="zh-TW" sz="14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zh-TW" altLang="en-US" sz="1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</a:t>
            </a:r>
            <a:endParaRPr kumimoji="0" lang="en-US" altLang="zh-TW" sz="14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zh-TW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zh-TW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zh-TW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價格發現 </a:t>
            </a: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：期貨價格反映了市場對未來走勢的預期</a:t>
            </a:r>
            <a:endParaRPr kumimoji="0" lang="en-US" altLang="zh-TW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TW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                 </a:t>
            </a: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</a:t>
            </a: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透過大量交易資訊，成為</a:t>
            </a: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現貨價格</a:t>
            </a:r>
            <a:r>
              <a:rPr lang="zh-TW" altLang="en-US" sz="2000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走勢的</a:t>
            </a:r>
            <a:r>
              <a:rPr lang="zh-TW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領先指標</a:t>
            </a:r>
            <a:endParaRPr lang="en-US" altLang="zh-TW" sz="2000" b="1" dirty="0">
              <a:solidFill>
                <a:schemeClr val="tx1"/>
              </a:solidFill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1050" b="1" dirty="0">
              <a:solidFill>
                <a:schemeClr val="tx1"/>
              </a:solidFill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提升市場流動性</a:t>
            </a: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：交易者 </a:t>
            </a:r>
            <a:r>
              <a:rPr lang="en-US" altLang="zh-TW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 </a:t>
            </a: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風險承擔者 </a:t>
            </a:r>
            <a:r>
              <a:rPr lang="en-US" altLang="zh-TW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 </a:t>
            </a: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願意進場承接避險者轉移出的風險</a:t>
            </a:r>
            <a:endParaRPr lang="zh-TW" altLang="en-US" sz="1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若沒有這群人，市場將面臨</a:t>
            </a: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流動性枯竭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，想避險的人會</a:t>
            </a: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找不到交易對手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想賣賣不掉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6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市場的潤滑劑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，促進交易順利進行，並有效</a:t>
            </a: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縮小買賣價差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，降低大家的交易成本</a:t>
            </a:r>
            <a:endParaRPr lang="en-US" altLang="zh-TW" sz="16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資金運用效率：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透過保證金制度</a:t>
            </a: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以小博大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，僅需少量資金即可參與高價合約的漲跌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A0AEA93-5192-DB74-5692-3830DF5A2A58}"/>
              </a:ext>
            </a:extLst>
          </p:cNvPr>
          <p:cNvSpPr txBox="1"/>
          <p:nvPr/>
        </p:nvSpPr>
        <p:spPr>
          <a:xfrm>
            <a:off x="551874" y="6502151"/>
            <a:ext cx="10310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0070C0"/>
                </a:solidFill>
              </a:rPr>
              <a:t>註</a:t>
            </a:r>
            <a:r>
              <a:rPr lang="en-US" altLang="zh-TW" sz="1200" dirty="0">
                <a:solidFill>
                  <a:srgbClr val="0070C0"/>
                </a:solidFill>
              </a:rPr>
              <a:t>1</a:t>
            </a:r>
            <a:r>
              <a:rPr lang="en-US" altLang="zh-TW" sz="1200" dirty="0"/>
              <a:t>:</a:t>
            </a:r>
            <a:r>
              <a:rPr lang="zh-TW" altLang="en-US" sz="1200" dirty="0"/>
              <a:t>為什麼不直接買保險 </a:t>
            </a:r>
            <a:r>
              <a:rPr lang="en-US" altLang="zh-TW" sz="1200" dirty="0"/>
              <a:t>?</a:t>
            </a:r>
            <a:r>
              <a:rPr lang="zh-TW" altLang="en-US" sz="1200" dirty="0"/>
              <a:t>  主要是如果保險公司賣「股票跌價險」，一旦股災發生，保險公司要賠給所有人，它會立刻倒閉， 所以</a:t>
            </a:r>
            <a:r>
              <a:rPr lang="zh-TW" altLang="en-US" sz="1200" b="1" dirty="0"/>
              <a:t>沒人敢賣這種保險</a:t>
            </a:r>
            <a:r>
              <a:rPr lang="zh-TW" altLang="en-US" sz="1200" dirty="0"/>
              <a:t>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2510927-909A-64B9-83E1-C7D4D3723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003317"/>
              </p:ext>
            </p:extLst>
          </p:nvPr>
        </p:nvGraphicFramePr>
        <p:xfrm>
          <a:off x="1246908" y="2519024"/>
          <a:ext cx="10458452" cy="183388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1800543">
                  <a:extLst>
                    <a:ext uri="{9D8B030D-6E8A-4147-A177-3AD203B41FA5}">
                      <a16:colId xmlns:a16="http://schemas.microsoft.com/office/drawing/2014/main" val="1966772627"/>
                    </a:ext>
                  </a:extLst>
                </a:gridCol>
                <a:gridCol w="3292793">
                  <a:extLst>
                    <a:ext uri="{9D8B030D-6E8A-4147-A177-3AD203B41FA5}">
                      <a16:colId xmlns:a16="http://schemas.microsoft.com/office/drawing/2014/main" val="3667973032"/>
                    </a:ext>
                  </a:extLst>
                </a:gridCol>
                <a:gridCol w="1124268">
                  <a:extLst>
                    <a:ext uri="{9D8B030D-6E8A-4147-A177-3AD203B41FA5}">
                      <a16:colId xmlns:a16="http://schemas.microsoft.com/office/drawing/2014/main" val="2437630140"/>
                    </a:ext>
                  </a:extLst>
                </a:gridCol>
                <a:gridCol w="1818005">
                  <a:extLst>
                    <a:ext uri="{9D8B030D-6E8A-4147-A177-3AD203B41FA5}">
                      <a16:colId xmlns:a16="http://schemas.microsoft.com/office/drawing/2014/main" val="10602591"/>
                    </a:ext>
                  </a:extLst>
                </a:gridCol>
                <a:gridCol w="2422843">
                  <a:extLst>
                    <a:ext uri="{9D8B030D-6E8A-4147-A177-3AD203B41FA5}">
                      <a16:colId xmlns:a16="http://schemas.microsoft.com/office/drawing/2014/main" val="1624310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個月後的市價狀況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現貨市場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實際賣小麥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期貨市場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合約損益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u="sng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最終結果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165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情境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跌到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只好把收成的小麥用 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400 </a:t>
                      </a: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賤賣給糧商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少賺 </a:t>
                      </a:r>
                      <a:r>
                        <a:rPr lang="en-US" altLang="zh-TW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100</a:t>
                      </a:r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期貨看對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賣出，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拿回 </a:t>
                      </a:r>
                      <a:r>
                        <a:rPr lang="en-US" altLang="zh-TW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500 </a:t>
                      </a:r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  <a:b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(400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+ 100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500)</a:t>
                      </a:r>
                      <a:b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b="1" dirty="0">
                          <a:solidFill>
                            <a:srgbClr val="FF0000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保本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9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情境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漲到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市場缺貨，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600</a:t>
                      </a: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元高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價賣給糧商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多賺</a:t>
                      </a:r>
                      <a:r>
                        <a:rPr lang="en-US" altLang="zh-TW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100</a:t>
                      </a:r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期貨看錯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賣出，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實拿 </a:t>
                      </a:r>
                      <a:r>
                        <a:rPr lang="en-US" altLang="zh-TW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500 </a:t>
                      </a:r>
                      <a:r>
                        <a:rPr lang="zh-TW" altLang="en-US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  <a:b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(600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- 100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500)</a:t>
                      </a:r>
                    </a:p>
                    <a:p>
                      <a:r>
                        <a:rPr lang="zh-TW" altLang="en-US" sz="1400" b="1" i="0" u="none" strike="noStrike" cap="none" dirty="0">
                          <a:solidFill>
                            <a:srgbClr val="FF0000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未賺到漲價利潤</a:t>
                      </a:r>
                      <a:r>
                        <a:rPr lang="zh-TW" altLang="en-US" b="1" dirty="0">
                          <a:solidFill>
                            <a:srgbClr val="FF0000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但不賠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377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65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期貨的種類</a:t>
            </a:r>
            <a:endParaRPr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3BAF18C-E0BC-B683-D211-13CF84559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842374"/>
              </p:ext>
            </p:extLst>
          </p:nvPr>
        </p:nvGraphicFramePr>
        <p:xfrm>
          <a:off x="706278" y="1206191"/>
          <a:ext cx="11015981" cy="4445618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827405">
                  <a:extLst>
                    <a:ext uri="{9D8B030D-6E8A-4147-A177-3AD203B41FA5}">
                      <a16:colId xmlns:a16="http://schemas.microsoft.com/office/drawing/2014/main" val="588397469"/>
                    </a:ext>
                  </a:extLst>
                </a:gridCol>
                <a:gridCol w="838518">
                  <a:extLst>
                    <a:ext uri="{9D8B030D-6E8A-4147-A177-3AD203B41FA5}">
                      <a16:colId xmlns:a16="http://schemas.microsoft.com/office/drawing/2014/main" val="2451080401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2355042796"/>
                    </a:ext>
                  </a:extLst>
                </a:gridCol>
                <a:gridCol w="1838643">
                  <a:extLst>
                    <a:ext uri="{9D8B030D-6E8A-4147-A177-3AD203B41FA5}">
                      <a16:colId xmlns:a16="http://schemas.microsoft.com/office/drawing/2014/main" val="3694871174"/>
                    </a:ext>
                  </a:extLst>
                </a:gridCol>
                <a:gridCol w="3418205">
                  <a:extLst>
                    <a:ext uri="{9D8B030D-6E8A-4147-A177-3AD203B41FA5}">
                      <a16:colId xmlns:a16="http://schemas.microsoft.com/office/drawing/2014/main" val="3513237218"/>
                    </a:ext>
                  </a:extLst>
                </a:gridCol>
                <a:gridCol w="3265805">
                  <a:extLst>
                    <a:ext uri="{9D8B030D-6E8A-4147-A177-3AD203B41FA5}">
                      <a16:colId xmlns:a16="http://schemas.microsoft.com/office/drawing/2014/main" val="1840667512"/>
                    </a:ext>
                  </a:extLst>
                </a:gridCol>
              </a:tblGrid>
              <a:tr h="2882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台灣代碼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交易管道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成分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特性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973348"/>
                  </a:ext>
                </a:extLst>
              </a:tr>
              <a:tr h="301658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加權指數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全台上市公司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台股期貨的源頭，大盤</a:t>
                      </a:r>
                      <a:r>
                        <a:rPr lang="zh-TW" altLang="en-US" sz="1200" b="1" dirty="0">
                          <a:solidFill>
                            <a:srgbClr val="FF0000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只能看當作參考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74256"/>
                  </a:ext>
                </a:extLst>
              </a:tr>
              <a:tr h="290712">
                <a:tc rowSpan="3"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國內指數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台指期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TX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台灣期交所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買一口等於買進全台灣上市公司一籃子股票組合</a:t>
                      </a:r>
                      <a:endParaRPr lang="en-US" altLang="zh-TW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台積電約佔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30%)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流動性高，與台股同步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2811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電子股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TE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台灣期交所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涵蓋全部電子股</a:t>
                      </a:r>
                      <a:b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如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台積電、鴻海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…)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波動大，保證金高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264245"/>
                  </a:ext>
                </a:extLst>
              </a:tr>
              <a:tr h="300128"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金融股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TF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台灣期交所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涵蓋全部金控股</a:t>
                      </a:r>
                      <a:endParaRPr lang="en-US" altLang="zh-TW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如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中信金、富邦金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…)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避險用，受央行升降息影響大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2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個股期貨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個股期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股票代號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台灣期交所</a:t>
                      </a:r>
                    </a:p>
                    <a:p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單一期貨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如：台積電期貨、長榮期貨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…)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精準打擊單一公司，</a:t>
                      </a:r>
                      <a:r>
                        <a:rPr lang="zh-TW" altLang="en-US" sz="1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低交易稅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，當沖客最愛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7406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國外指數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那斯達克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UNF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海外期貨 </a:t>
                      </a:r>
                      <a:r>
                        <a:rPr kumimoji="0" lang="zh-TW" altLang="en-US" sz="105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註</a:t>
                      </a:r>
                      <a:r>
                        <a:rPr kumimoji="0" lang="en-US" altLang="zh-TW" sz="105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endParaRPr lang="en-US" altLang="zh-TW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342900" indent="-342900">
                        <a:buFont typeface="+mj-lt"/>
                        <a:buAutoNum type="arabicPeriod" startAt="2"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台灣期交所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全球科技龍頭</a:t>
                      </a:r>
                      <a:endParaRPr lang="en-US" altLang="zh-TW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如：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Apple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、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NVIDIA…)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全球賭場，波動極大，</a:t>
                      </a:r>
                      <a:r>
                        <a:rPr lang="zh-TW" altLang="en-US" sz="12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台股開盤前的先行指標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5390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小道瓊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UDF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30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家傳統藍籌股</a:t>
                      </a:r>
                      <a:endParaRPr lang="en-US" altLang="zh-TW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如：麥當勞、波音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…)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相對穩健，代表美國傳統經濟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71290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商品期貨</a:t>
                      </a:r>
                    </a:p>
                  </a:txBody>
                  <a:tcPr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原油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BRF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交易能源本身，非石油公司股票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抗通膨，受戰爭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中東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烏俄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與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OPEC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產量影響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617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黃金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TGF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純度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99.5%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以上的實體金屬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避險天堂，美元跌時黃金通常會漲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14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財經期貨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匯率類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XEF / XJF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看好該國貨幣升值時買進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進出口商避險用，或賭各國央行政策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570765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8805C5FF-E3A6-191F-4EF9-888053F57043}"/>
              </a:ext>
            </a:extLst>
          </p:cNvPr>
          <p:cNvSpPr txBox="1"/>
          <p:nvPr/>
        </p:nvSpPr>
        <p:spPr>
          <a:xfrm>
            <a:off x="706278" y="5728009"/>
            <a:ext cx="103100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2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 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架構同股票複委託，會跨足海期理由如下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</a:p>
          <a:p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</a:t>
            </a:r>
            <a:r>
              <a:rPr lang="en-US" altLang="zh-TW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幾乎 </a:t>
            </a:r>
            <a:r>
              <a:rPr lang="en-US" altLang="zh-TW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 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無縫接軌，隨時可以平倉逃命或進場避險</a:t>
            </a:r>
            <a:endParaRPr lang="en-US" altLang="zh-TW" sz="11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</a:t>
            </a:r>
            <a:r>
              <a:rPr lang="en-US" altLang="zh-TW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市場較大，即使是巴菲特也無法一人操控價格</a:t>
            </a:r>
            <a:endParaRPr lang="en-US" altLang="zh-TW" sz="11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</a:t>
            </a:r>
            <a:r>
              <a:rPr lang="en-US" altLang="zh-TW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商品多樣性且不僅僅是股票</a:t>
            </a:r>
            <a:endParaRPr lang="en-US" altLang="zh-TW" sz="11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3079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期貨交易規則與機制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(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一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)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84810-3247-84D7-19C9-70D9D422C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5822" y="1059121"/>
            <a:ext cx="11380355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期交所合約制定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標的物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如「台指期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(TX)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」就是追蹤「臺灣證券交易所發行加權股價指數」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合約規格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規定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點賺賠多少錢，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如規定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點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 200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元台幣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最小跳動點數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每次升降點數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結算日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合約交易的最後一天，通常是</a:t>
            </a:r>
            <a:r>
              <a:rPr lang="zh-TW" altLang="en-US" sz="16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每個月的</a:t>
            </a:r>
            <a:r>
              <a:rPr lang="zh-TW" altLang="en-US" sz="16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第三個星期三的 </a:t>
            </a:r>
            <a:r>
              <a:rPr lang="en-US" altLang="zh-TW" sz="16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13:30</a:t>
            </a:r>
            <a:r>
              <a:rPr lang="zh-TW" altLang="en-US" sz="16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4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台指期為例，其他契約有可能是</a:t>
            </a:r>
            <a:r>
              <a:rPr lang="en-US" altLang="zh-TW" sz="14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13:45</a:t>
            </a:r>
            <a:r>
              <a:rPr lang="zh-TW" altLang="en-US" sz="14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或其他時間</a:t>
            </a:r>
            <a:r>
              <a:rPr lang="en-US" altLang="zh-TW" sz="14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en-US" altLang="zh-TW" sz="1600" b="1" dirty="0"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每日結算價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採</a:t>
            </a: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日盤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收盤前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分鐘內的成交量加權平均價，並作為</a:t>
            </a: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隔日開盤參考價的基準</a:t>
            </a:r>
            <a:endParaRPr lang="en-US" altLang="zh-TW" sz="16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交易時間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日盤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一般交易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08:45 – 13:45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，個股期貨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09:00 – 13:30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開盤參考價使用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昨天日盤收盤</a:t>
            </a:r>
            <a:r>
              <a:rPr lang="zh-TW" altLang="en-US" sz="12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結算價</a:t>
            </a:r>
            <a:endParaRPr lang="en-US" altLang="zh-TW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夜盤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盤後交易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15:00 – 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次日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05:00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開盤參考價使用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今天日盤收盤</a:t>
            </a:r>
            <a:r>
              <a:rPr lang="zh-TW" altLang="en-US" sz="12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結算價</a:t>
            </a:r>
            <a:endParaRPr lang="en-US" altLang="zh-TW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撮合方式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日盤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開盤前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08:30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–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08:45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採集合競價，這段時間系統會接受掛單，並不斷計算「如果現在開盤，成交價會是多少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」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保護機制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08:43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–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08:45 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 </a:t>
            </a:r>
            <a:r>
              <a:rPr lang="en-US" altLang="zh-TW" sz="14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分鐘不可刪改單，只能新增委託單，</a:t>
            </a:r>
            <a:r>
              <a:rPr lang="zh-TW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期交所有權延後開盤機制，但不可超過</a:t>
            </a:r>
            <a:r>
              <a:rPr lang="en-US" altLang="zh-TW" sz="14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分鐘</a:t>
            </a:r>
            <a:r>
              <a:rPr lang="zh-TW" altLang="en-US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預防機制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監控指標為委託成交比與取消率超過一定比例，期貨商有權拒絕客戶下單或終止合約，更嚴重會被處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3-10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年有期徒刑</a:t>
            </a:r>
            <a:endParaRPr lang="en-US" altLang="zh-TW" sz="14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日盤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盤中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08:45 – 13:45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採逐筆交易，有</a:t>
            </a:r>
            <a:r>
              <a:rPr lang="zh-TW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動態價格穩定措施</a:t>
            </a:r>
            <a:r>
              <a:rPr lang="zh-TW" altLang="en-US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夜盤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開盤前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14:50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–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15:00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採集合競價，這段時間系統會接受掛單，並不斷計算「如果現在開盤，成交價會是多少</a:t>
            </a:r>
            <a: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」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與日盤機制相同，</a:t>
            </a:r>
            <a:r>
              <a:rPr lang="zh-TW" altLang="en-US" sz="1400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但不同就是只有十分鐘</a:t>
            </a:r>
            <a:endParaRPr lang="en-US" altLang="zh-TW" sz="1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夜盤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–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盤中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15:00 –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隔日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05:00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採逐筆交易，有</a:t>
            </a:r>
            <a:r>
              <a:rPr lang="zh-TW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動態價格穩定措施</a:t>
            </a:r>
            <a:r>
              <a:rPr lang="zh-TW" altLang="en-US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b="1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endParaRPr lang="en-US" altLang="zh-TW" sz="16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9290794-E96A-8B41-E3A0-70083BC265EF}"/>
              </a:ext>
            </a:extLst>
          </p:cNvPr>
          <p:cNvSpPr txBox="1"/>
          <p:nvPr/>
        </p:nvSpPr>
        <p:spPr>
          <a:xfrm>
            <a:off x="570346" y="5845046"/>
            <a:ext cx="1121583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1:</a:t>
            </a:r>
            <a:r>
              <a:rPr lang="zh-TW" altLang="en-US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期貨的價格是跟著現貨（台股大盤）走的，但因為它反應的是</a:t>
            </a:r>
            <a:r>
              <a:rPr lang="en-US" altLang="zh-TW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『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對未來的預期</a:t>
            </a:r>
            <a:r>
              <a:rPr lang="en-US" altLang="zh-TW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』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，所以往往走在現貨前面。期貨之所以要</a:t>
            </a:r>
            <a:r>
              <a:rPr lang="zh-TW" alt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早 </a:t>
            </a:r>
            <a:r>
              <a:rPr lang="en-US" altLang="zh-TW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 </a:t>
            </a:r>
            <a:r>
              <a:rPr lang="zh-TW" altLang="en-US" sz="11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分鐘開盤</a:t>
            </a:r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，是為了先消化昨天晚上的國際新聞；</a:t>
            </a:r>
            <a:endParaRPr lang="en-US" altLang="zh-TW" sz="11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1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 如果等台股開盤了期貨才開，大家想避險卻沒地方跑，反而會造成台股開盤時更混亂</a:t>
            </a:r>
            <a:endParaRPr lang="en-US" altLang="zh-TW" sz="11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註</a:t>
            </a:r>
            <a:r>
              <a:rPr lang="en-US" altLang="zh-TW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2:</a:t>
            </a:r>
            <a:r>
              <a:rPr lang="zh-TW" altLang="en-US" sz="1100" dirty="0">
                <a:solidFill>
                  <a:srgbClr val="0070C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100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動態價格穩定措施 </a:t>
            </a:r>
            <a:r>
              <a:rPr lang="en-US" altLang="zh-TW" sz="1100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100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市場繼續交易，不會暫停，但如果單子價格</a:t>
            </a:r>
            <a:r>
              <a:rPr lang="zh-TW" altLang="en-US" sz="1100" dirty="0"/>
              <a:t>買單高於上限、賣單低於下限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，系統會</a:t>
            </a:r>
            <a:r>
              <a:rPr lang="zh-TW" altLang="en-US" sz="1100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直接拒絕委託</a:t>
            </a:r>
            <a:endParaRPr lang="en-US" altLang="zh-TW" sz="1100" dirty="0">
              <a:solidFill>
                <a:srgbClr val="FF000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1100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 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上下限外圈</a:t>
            </a:r>
            <a: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漲跌幅 </a:t>
            </a:r>
            <a: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10%</a:t>
            </a:r>
            <a:b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 上下限內圈</a:t>
            </a:r>
            <a: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個股的話 </a:t>
            </a:r>
            <a: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即時基準價 </a:t>
            </a:r>
            <a: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3.5%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， 其他 </a:t>
            </a:r>
            <a: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即時基準價 </a:t>
            </a:r>
            <a:r>
              <a:rPr lang="en-US" altLang="zh-TW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1%</a:t>
            </a:r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</a:t>
            </a:r>
            <a:endParaRPr lang="en-US" altLang="zh-TW" sz="11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350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期貨交易規則與機制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(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二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)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84810-3247-84D7-19C9-70D9D422C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886163"/>
            <a:ext cx="8356889" cy="5740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交易優先順序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價格優先，市價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&gt;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限價</a:t>
            </a:r>
            <a:endParaRPr lang="en-US" altLang="zh-TW" sz="16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時間優先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委託單種類 </a:t>
            </a:r>
            <a:r>
              <a:rPr lang="en-US" altLang="zh-TW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ROD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IOC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FOK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5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漲跌幅限制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日盤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採</a:t>
            </a:r>
            <a:r>
              <a:rPr lang="zh-TW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前日</a:t>
            </a:r>
            <a:r>
              <a:rPr lang="zh-TW" altLang="en-US" sz="16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結算價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±10%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夜盤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採</a:t>
            </a:r>
            <a:r>
              <a:rPr lang="zh-TW" altLang="en-US" sz="1600" b="1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當日</a:t>
            </a:r>
            <a:r>
              <a:rPr lang="zh-TW" altLang="en-US" sz="16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結算價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±10%</a:t>
            </a: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國外指數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非股票類型期貨是三階段漲跌福</a:t>
            </a:r>
            <a:endParaRPr lang="en-US" altLang="zh-TW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8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交易費用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手續費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買賣皆需收，</a:t>
            </a:r>
            <a:r>
              <a:rPr lang="zh-TW" altLang="en-US" sz="16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但沒有像股票一樣的硬性規定，可跟期貨商協商</a:t>
            </a:r>
            <a:endParaRPr lang="en-US" altLang="zh-TW" sz="16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期交稅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買賣皆需收，</a:t>
            </a:r>
            <a:r>
              <a:rPr lang="zh-TW" altLang="en-US" sz="16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交易金額 </a:t>
            </a:r>
            <a:r>
              <a:rPr lang="en-US" altLang="zh-TW" sz="16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 </a:t>
            </a:r>
            <a:r>
              <a:rPr lang="en-US" altLang="zh-TW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0.002%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8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升降單位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台指期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最小跳動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點，每一跳價格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200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</a:t>
            </a:r>
            <a:endParaRPr lang="en-US" altLang="zh-TW" sz="16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電子期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最小跳動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0.05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點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，每一跳價格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200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</a:t>
            </a:r>
            <a:endParaRPr lang="en-US" altLang="zh-TW" sz="16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金融期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最小跳動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0.2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點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，每一跳價格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200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</a:t>
            </a:r>
            <a:endParaRPr lang="en-US" altLang="zh-TW" sz="16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個股期貨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最小跳動依照股價不同，每一跳價格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2000 x 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股價跳動單位</a:t>
            </a:r>
            <a:endParaRPr lang="en-US" altLang="zh-TW" sz="16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股價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– 49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元，一跳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0.05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元</a:t>
            </a:r>
            <a:endParaRPr lang="en-US" altLang="zh-TW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股價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 – 99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元，一跳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0.1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</a:t>
            </a:r>
            <a:endParaRPr lang="en-US" altLang="zh-TW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股價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100 – 499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元，一跳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0.5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</a:t>
            </a:r>
            <a:endParaRPr lang="en-US" altLang="zh-TW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股價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500 – 999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元， 一跳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1.0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</a:t>
            </a:r>
            <a:endParaRPr lang="en-US" altLang="zh-TW" sz="12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股價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1000 </a:t>
            </a:r>
            <a:r>
              <a:rPr lang="zh-TW" altLang="en-US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元以上，一跳 </a:t>
            </a:r>
            <a:r>
              <a:rPr lang="en-US" altLang="zh-TW" sz="12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B8AD1E-7E6F-032B-7965-141F43686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738313"/>
              </p:ext>
            </p:extLst>
          </p:nvPr>
        </p:nvGraphicFramePr>
        <p:xfrm>
          <a:off x="5156617" y="2326640"/>
          <a:ext cx="5639753" cy="110236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722630">
                  <a:extLst>
                    <a:ext uri="{9D8B030D-6E8A-4147-A177-3AD203B41FA5}">
                      <a16:colId xmlns:a16="http://schemas.microsoft.com/office/drawing/2014/main" val="902208765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2474074211"/>
                    </a:ext>
                  </a:extLst>
                </a:gridCol>
                <a:gridCol w="2162493">
                  <a:extLst>
                    <a:ext uri="{9D8B030D-6E8A-4147-A177-3AD203B41FA5}">
                      <a16:colId xmlns:a16="http://schemas.microsoft.com/office/drawing/2014/main" val="3537370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85533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漲幅限制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觸發條件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冷卻期</a:t>
                      </a:r>
                      <a:endParaRPr lang="zh-TW" altLang="en-US" sz="10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973102"/>
                  </a:ext>
                </a:extLst>
              </a:tr>
              <a:tr h="220915">
                <a:tc>
                  <a:txBody>
                    <a:bodyPr/>
                    <a:lstStyle/>
                    <a:p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第一階段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± 5%</a:t>
                      </a:r>
                      <a:endParaRPr lang="zh-TW" altLang="en-US" sz="10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當成交價觸及 </a:t>
                      </a:r>
                      <a:r>
                        <a:rPr lang="en-US" altLang="zh-TW" sz="10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±5%</a:t>
                      </a:r>
                      <a:endParaRPr lang="zh-TW" altLang="en-US" sz="10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00" b="1" dirty="0"/>
                        <a:t>限制在 </a:t>
                      </a:r>
                      <a:r>
                        <a:rPr lang="en-US" altLang="zh-TW" sz="1000" b="1" dirty="0"/>
                        <a:t>±5% </a:t>
                      </a:r>
                      <a:r>
                        <a:rPr lang="zh-TW" altLang="en-US" sz="1000" b="1" dirty="0"/>
                        <a:t>內交易</a:t>
                      </a:r>
                      <a:r>
                        <a:rPr lang="zh-TW" altLang="en-US" sz="1000" dirty="0"/>
                        <a:t>，</a:t>
                      </a:r>
                      <a:r>
                        <a:rPr lang="en-US" altLang="zh-TW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分鐘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69814"/>
                  </a:ext>
                </a:extLst>
              </a:tr>
              <a:tr h="222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第二階段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± 10%</a:t>
                      </a:r>
                      <a:endParaRPr lang="zh-TW" altLang="en-US" sz="10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dirty="0"/>
                        <a:t>冷卻期結束後</a:t>
                      </a:r>
                      <a:r>
                        <a:rPr lang="zh-TW" altLang="en-US" sz="10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，放寬限制至 </a:t>
                      </a:r>
                      <a:r>
                        <a:rPr lang="en-US" altLang="zh-TW" sz="10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±10%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00" b="1" dirty="0"/>
                        <a:t>限制在 </a:t>
                      </a:r>
                      <a:r>
                        <a:rPr lang="en-US" altLang="zh-TW" sz="1000" b="1" dirty="0"/>
                        <a:t>±10% </a:t>
                      </a:r>
                      <a:r>
                        <a:rPr lang="zh-TW" altLang="en-US" sz="1000" b="1" dirty="0"/>
                        <a:t>內交易</a:t>
                      </a:r>
                      <a:r>
                        <a:rPr lang="zh-TW" altLang="en-US" sz="1000" dirty="0"/>
                        <a:t>，</a:t>
                      </a:r>
                      <a:r>
                        <a:rPr lang="en-US" altLang="zh-TW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分鐘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318078"/>
                  </a:ext>
                </a:extLst>
              </a:tr>
              <a:tr h="242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第三階段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± 20%</a:t>
                      </a:r>
                      <a:endParaRPr lang="zh-TW" altLang="en-US" sz="10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若再觸發，放寬至 </a:t>
                      </a:r>
                      <a:r>
                        <a:rPr lang="en-US" altLang="zh-TW" sz="10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±20%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00" b="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當日就在 </a:t>
                      </a:r>
                      <a:r>
                        <a:rPr lang="en-US" altLang="zh-TW" sz="1000" b="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±20% </a:t>
                      </a:r>
                      <a:r>
                        <a:rPr lang="zh-TW" altLang="en-US" sz="1000" b="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限制下交易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7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80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期貨交易規則與機制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(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三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)</a:t>
            </a:r>
            <a:endParaRPr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B0E878B-A14F-6A5F-E491-AF24D46AB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80210"/>
              </p:ext>
            </p:extLst>
          </p:nvPr>
        </p:nvGraphicFramePr>
        <p:xfrm>
          <a:off x="729049" y="1761244"/>
          <a:ext cx="5074604" cy="357124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2851618086"/>
                    </a:ext>
                  </a:extLst>
                </a:gridCol>
                <a:gridCol w="4158299">
                  <a:extLst>
                    <a:ext uri="{9D8B030D-6E8A-4147-A177-3AD203B41FA5}">
                      <a16:colId xmlns:a16="http://schemas.microsoft.com/office/drawing/2014/main" val="2587755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sng" dirty="0">
                          <a:solidFill>
                            <a:srgbClr val="ED7D3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帳務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解釋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25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權益數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投資人的身價總額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=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帳戶現金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+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未平倉損益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浮動損益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571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原始保證金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入場線</a:t>
                      </a:r>
                      <a:b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如果帳戶錢不夠是不能下單，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下單後帳戶的錢會</a:t>
                      </a:r>
                      <a:r>
                        <a:rPr lang="zh-TW" altLang="en-US" sz="11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被凍結押金的部分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69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維持保證金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及格線</a:t>
                      </a:r>
                      <a:endParaRPr lang="en-US" altLang="zh-TW" sz="12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當點數上下震盪會需要注意保證金，</a:t>
                      </a:r>
                      <a:r>
                        <a:rPr lang="zh-TW" altLang="en-US" sz="11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需不需要補錢</a:t>
                      </a:r>
                      <a:endParaRPr lang="en-US" altLang="zh-TW" sz="1100" dirty="0">
                        <a:highlight>
                          <a:srgbClr val="FFFF00"/>
                        </a:highlight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原始保證金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&gt;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權益數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&gt;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維持保證金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16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追繳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盤中追繳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警告線</a:t>
                      </a:r>
                      <a:endParaRPr lang="en-US" altLang="zh-TW" sz="1200" b="1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維持保證金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&gt;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權益數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，期貨商會通知補錢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當風險指數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權益數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原始保證金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* 100 %)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低於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25%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，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期貨商會</a:t>
                      </a:r>
                      <a:r>
                        <a:rPr lang="zh-TW" altLang="en-US" sz="11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直接平倉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346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結算保證金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「期貨商」繳給「期交所」的保證金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405187"/>
                  </a:ext>
                </a:extLst>
              </a:tr>
              <a:tr h="134236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可用餘額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帳戶可使用現金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=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權益數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原始保證金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2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超額損失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負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債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=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賠到連本金都沒了，還倒欠期貨商錢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    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這筆錢必須還，否則會變信用破產</a:t>
                      </a:r>
                      <a:endParaRPr lang="zh-TW" altLang="en-US" sz="1100" b="0" i="0" u="none" strike="noStrike" cap="none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72834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78331CD-87DA-5AB0-AD57-30BDEA7C3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916179"/>
              </p:ext>
            </p:extLst>
          </p:nvPr>
        </p:nvGraphicFramePr>
        <p:xfrm>
          <a:off x="6388348" y="1761244"/>
          <a:ext cx="5074603" cy="2575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8778">
                  <a:extLst>
                    <a:ext uri="{9D8B030D-6E8A-4147-A177-3AD203B41FA5}">
                      <a16:colId xmlns:a16="http://schemas.microsoft.com/office/drawing/2014/main" val="2851618086"/>
                    </a:ext>
                  </a:extLst>
                </a:gridCol>
                <a:gridCol w="4175825">
                  <a:extLst>
                    <a:ext uri="{9D8B030D-6E8A-4147-A177-3AD203B41FA5}">
                      <a16:colId xmlns:a16="http://schemas.microsoft.com/office/drawing/2014/main" val="2587755122"/>
                    </a:ext>
                  </a:extLst>
                </a:gridCol>
              </a:tblGrid>
              <a:tr h="30593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u="sng" dirty="0">
                          <a:solidFill>
                            <a:srgbClr val="4472C4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狀態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解釋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25323"/>
                  </a:ext>
                </a:extLst>
              </a:tr>
              <a:tr h="134351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開倉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建倉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買進或賣出一份</a:t>
                      </a:r>
                      <a:r>
                        <a:rPr lang="zh-TW" altLang="en-US" sz="11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新的合約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57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平倉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把手上的合約</a:t>
                      </a:r>
                      <a:r>
                        <a:rPr lang="zh-TW" altLang="en-US" sz="11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反向沖銷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結算損益落袋</a:t>
                      </a:r>
                      <a:endParaRPr lang="zh-TW" altLang="en-US" sz="1100" dirty="0">
                        <a:highlight>
                          <a:srgbClr val="FFFF00"/>
                        </a:highlight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569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留倉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收盤時沒有平倉，把部位留到下一個交易盤次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16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加倉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增加部位</a:t>
                      </a:r>
                      <a:endParaRPr lang="zh-TW" altLang="en-US" sz="1100" dirty="0">
                        <a:highlight>
                          <a:srgbClr val="FFFF00"/>
                        </a:highlight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346513"/>
                  </a:ext>
                </a:extLst>
              </a:tr>
              <a:tr h="231767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減倉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減少部位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405187"/>
                  </a:ext>
                </a:extLst>
              </a:tr>
              <a:tr h="231767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爆倉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強制平倉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404124"/>
                  </a:ext>
                </a:extLst>
              </a:tr>
              <a:tr h="231767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轉倉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把快到期的近月合約平倉，同時建立遠月合約，為了長期持有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20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反手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平倉後，建立跟原本反向的倉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例如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原本做多，覺得苗頭不對，立刻平倉並同時做空</a:t>
                      </a:r>
                      <a:endParaRPr lang="zh-TW" altLang="en-US" sz="1100" b="0" i="0" u="none" strike="noStrike" cap="none" dirty="0">
                        <a:solidFill>
                          <a:schemeClr val="dk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728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58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期貨交易規則與機制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(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四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)</a:t>
            </a:r>
            <a:endParaRPr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96D6EFF-FEE3-1E85-494D-02B11D40C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364044"/>
              </p:ext>
            </p:extLst>
          </p:nvPr>
        </p:nvGraphicFramePr>
        <p:xfrm>
          <a:off x="91434" y="971103"/>
          <a:ext cx="5814066" cy="15773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8857">
                  <a:extLst>
                    <a:ext uri="{9D8B030D-6E8A-4147-A177-3AD203B41FA5}">
                      <a16:colId xmlns:a16="http://schemas.microsoft.com/office/drawing/2014/main" val="1247181597"/>
                    </a:ext>
                  </a:extLst>
                </a:gridCol>
                <a:gridCol w="2495809">
                  <a:extLst>
                    <a:ext uri="{9D8B030D-6E8A-4147-A177-3AD203B41FA5}">
                      <a16:colId xmlns:a16="http://schemas.microsoft.com/office/drawing/2014/main" val="654276468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559276970"/>
                    </a:ext>
                  </a:extLst>
                </a:gridCol>
              </a:tblGrid>
              <a:tr h="25886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交割模式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T+0</a:t>
                      </a:r>
                      <a:endParaRPr lang="zh-TW" altLang="en-US" sz="105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最後到期日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062503"/>
                  </a:ext>
                </a:extLst>
              </a:tr>
              <a:tr h="192825"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概念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每日結算 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05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不像股票有 </a:t>
                      </a:r>
                      <a:r>
                        <a:rPr lang="en-US" altLang="zh-TW" sz="105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T+2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05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合約結束，強迫結算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79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每個交易日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(</a:t>
                      </a:r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日夜收盤結算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05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每個月第三個禮拜周三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13:30</a:t>
                      </a:r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以台指期為例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05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1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機制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買賣盈虧當日收盤，</a:t>
                      </a:r>
                      <a:r>
                        <a:rPr lang="zh-TW" altLang="en-US" sz="1050" b="1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立即匯入匯出帳戶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收盤未平倉，系統</a:t>
                      </a:r>
                      <a:r>
                        <a:rPr lang="zh-TW" altLang="en-US" sz="1050" b="1" dirty="0">
                          <a:highlight>
                            <a:srgbClr val="FFFF00"/>
                          </a:highlight>
                        </a:rPr>
                        <a:t>自動現金結算</a:t>
                      </a:r>
                      <a:endParaRPr lang="zh-TW" altLang="en-US" sz="1050" b="1" dirty="0">
                        <a:highlight>
                          <a:srgbClr val="FFFF00"/>
                        </a:highlight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614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短線開</a:t>
                      </a:r>
                      <a:r>
                        <a:rPr lang="en-US" altLang="zh-TW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平倉，如當日仍無平倉，需在帳戶</a:t>
                      </a:r>
                      <a:r>
                        <a:rPr lang="zh-TW" altLang="en-US" sz="105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維持保證金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05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長線轉倉，換月交易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62532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0E11E46-4978-3F1A-18CA-E6061E55F75C}"/>
              </a:ext>
            </a:extLst>
          </p:cNvPr>
          <p:cNvSpPr txBox="1"/>
          <p:nvPr/>
        </p:nvSpPr>
        <p:spPr>
          <a:xfrm>
            <a:off x="24479" y="2464118"/>
            <a:ext cx="1126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u="sng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時間軸</a:t>
            </a:r>
          </a:p>
        </p:txBody>
      </p:sp>
      <p:pic>
        <p:nvPicPr>
          <p:cNvPr id="5" name="圖形 4" descr="時鐘 以實心填滿">
            <a:extLst>
              <a:ext uri="{FF2B5EF4-FFF2-40B4-BE49-F238E27FC236}">
                <a16:creationId xmlns:a16="http://schemas.microsoft.com/office/drawing/2014/main" id="{6BFC3767-5181-2E09-4F69-C13AA628C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" y="2914705"/>
            <a:ext cx="457200" cy="457200"/>
          </a:xfrm>
          <a:prstGeom prst="rect">
            <a:avLst/>
          </a:prstGeom>
        </p:spPr>
      </p:pic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7478F0E7-7508-5A51-BF5B-CAF89F8653FE}"/>
              </a:ext>
            </a:extLst>
          </p:cNvPr>
          <p:cNvSpPr/>
          <p:nvPr/>
        </p:nvSpPr>
        <p:spPr>
          <a:xfrm>
            <a:off x="771525" y="2914705"/>
            <a:ext cx="457200" cy="4572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3" name="圖形 12" descr="時鐘 以實心填滿">
            <a:extLst>
              <a:ext uri="{FF2B5EF4-FFF2-40B4-BE49-F238E27FC236}">
                <a16:creationId xmlns:a16="http://schemas.microsoft.com/office/drawing/2014/main" id="{92912402-7C0A-0D28-BC41-6F90DA66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7525" y="2902640"/>
            <a:ext cx="457200" cy="457200"/>
          </a:xfrm>
          <a:prstGeom prst="rect">
            <a:avLst/>
          </a:prstGeom>
        </p:spPr>
      </p:pic>
      <p:sp>
        <p:nvSpPr>
          <p:cNvPr id="14" name="流程圖: 接點 13">
            <a:extLst>
              <a:ext uri="{FF2B5EF4-FFF2-40B4-BE49-F238E27FC236}">
                <a16:creationId xmlns:a16="http://schemas.microsoft.com/office/drawing/2014/main" id="{2742E10D-B9E9-F1A0-7800-978B092E36E4}"/>
              </a:ext>
            </a:extLst>
          </p:cNvPr>
          <p:cNvSpPr/>
          <p:nvPr/>
        </p:nvSpPr>
        <p:spPr>
          <a:xfrm>
            <a:off x="2317525" y="2902640"/>
            <a:ext cx="457200" cy="4572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5" name="圖形 14" descr="時鐘 以實心填滿">
            <a:extLst>
              <a:ext uri="{FF2B5EF4-FFF2-40B4-BE49-F238E27FC236}">
                <a16:creationId xmlns:a16="http://schemas.microsoft.com/office/drawing/2014/main" id="{EFC23EDE-6341-23FB-C45F-B8CD11464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185" y="2914760"/>
            <a:ext cx="457200" cy="457200"/>
          </a:xfrm>
          <a:prstGeom prst="rect">
            <a:avLst/>
          </a:prstGeom>
        </p:spPr>
      </p:pic>
      <p:sp>
        <p:nvSpPr>
          <p:cNvPr id="16" name="流程圖: 接點 15">
            <a:extLst>
              <a:ext uri="{FF2B5EF4-FFF2-40B4-BE49-F238E27FC236}">
                <a16:creationId xmlns:a16="http://schemas.microsoft.com/office/drawing/2014/main" id="{239711D8-56CB-ADEE-0F14-4CD5C9DBE924}"/>
              </a:ext>
            </a:extLst>
          </p:cNvPr>
          <p:cNvSpPr/>
          <p:nvPr/>
        </p:nvSpPr>
        <p:spPr>
          <a:xfrm>
            <a:off x="5706185" y="2914760"/>
            <a:ext cx="457200" cy="4572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7" name="圖形 16" descr="時鐘 以實心填滿">
            <a:extLst>
              <a:ext uri="{FF2B5EF4-FFF2-40B4-BE49-F238E27FC236}">
                <a16:creationId xmlns:a16="http://schemas.microsoft.com/office/drawing/2014/main" id="{9576A481-6684-ED91-6C40-1D3316934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8243" y="2881388"/>
            <a:ext cx="457200" cy="457200"/>
          </a:xfrm>
          <a:prstGeom prst="rect">
            <a:avLst/>
          </a:prstGeom>
        </p:spPr>
      </p:pic>
      <p:sp>
        <p:nvSpPr>
          <p:cNvPr id="18" name="流程圖: 接點 17">
            <a:extLst>
              <a:ext uri="{FF2B5EF4-FFF2-40B4-BE49-F238E27FC236}">
                <a16:creationId xmlns:a16="http://schemas.microsoft.com/office/drawing/2014/main" id="{D34E1989-50CE-3077-B797-A64E5F073822}"/>
              </a:ext>
            </a:extLst>
          </p:cNvPr>
          <p:cNvSpPr/>
          <p:nvPr/>
        </p:nvSpPr>
        <p:spPr>
          <a:xfrm>
            <a:off x="8998243" y="2881388"/>
            <a:ext cx="457200" cy="4572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9" name="圖形 18" descr="時鐘 以實心填滿">
            <a:extLst>
              <a:ext uri="{FF2B5EF4-FFF2-40B4-BE49-F238E27FC236}">
                <a16:creationId xmlns:a16="http://schemas.microsoft.com/office/drawing/2014/main" id="{0A76BAB7-579F-E53B-A0BE-17C4FA369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2999" y="2852813"/>
            <a:ext cx="457200" cy="457200"/>
          </a:xfrm>
          <a:prstGeom prst="rect">
            <a:avLst/>
          </a:prstGeom>
        </p:spPr>
      </p:pic>
      <p:sp>
        <p:nvSpPr>
          <p:cNvPr id="20" name="流程圖: 接點 19">
            <a:extLst>
              <a:ext uri="{FF2B5EF4-FFF2-40B4-BE49-F238E27FC236}">
                <a16:creationId xmlns:a16="http://schemas.microsoft.com/office/drawing/2014/main" id="{38A0E2A4-41F4-CD1E-8154-451E37D37BDF}"/>
              </a:ext>
            </a:extLst>
          </p:cNvPr>
          <p:cNvSpPr/>
          <p:nvPr/>
        </p:nvSpPr>
        <p:spPr>
          <a:xfrm>
            <a:off x="10742999" y="2852813"/>
            <a:ext cx="457200" cy="457200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C04ACDF-D393-A903-D8D9-7E7246E0D7F1}"/>
              </a:ext>
            </a:extLst>
          </p:cNvPr>
          <p:cNvSpPr/>
          <p:nvPr/>
        </p:nvSpPr>
        <p:spPr>
          <a:xfrm>
            <a:off x="489701" y="3870660"/>
            <a:ext cx="1088798" cy="9223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盤前</a:t>
            </a:r>
            <a:endParaRPr lang="en-US" altLang="zh-TW" sz="12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帳戶</a:t>
            </a:r>
            <a:endParaRPr lang="en-US" altLang="zh-TW" sz="12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權益數</a:t>
            </a:r>
            <a:endParaRPr lang="en-US" altLang="zh-TW" sz="12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可用餘額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B951EB6-F900-A70B-85B0-13501EC9A7A6}"/>
              </a:ext>
            </a:extLst>
          </p:cNvPr>
          <p:cNvSpPr/>
          <p:nvPr/>
        </p:nvSpPr>
        <p:spPr>
          <a:xfrm>
            <a:off x="2035816" y="4013536"/>
            <a:ext cx="1020618" cy="6351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開盤</a:t>
            </a:r>
            <a:endParaRPr lang="en-US" altLang="zh-TW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下單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7CEAE9D-A81C-112C-D1ED-645BF918AEA9}"/>
              </a:ext>
            </a:extLst>
          </p:cNvPr>
          <p:cNvSpPr/>
          <p:nvPr/>
        </p:nvSpPr>
        <p:spPr>
          <a:xfrm>
            <a:off x="2035816" y="5772150"/>
            <a:ext cx="1020618" cy="49160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   權益數 </a:t>
            </a:r>
            <a:r>
              <a:rPr lang="en-US" altLang="zh-TW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&gt;</a:t>
            </a:r>
          </a:p>
          <a:p>
            <a:r>
              <a:rPr lang="zh-TW" alt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原始保證金 </a:t>
            </a:r>
            <a:r>
              <a:rPr lang="en-US" altLang="zh-TW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&gt;</a:t>
            </a:r>
          </a:p>
          <a:p>
            <a:r>
              <a:rPr lang="zh-TW" alt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維持保證金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199E32B-2662-CF3C-0090-8B009B22526E}"/>
              </a:ext>
            </a:extLst>
          </p:cNvPr>
          <p:cNvSpPr/>
          <p:nvPr/>
        </p:nvSpPr>
        <p:spPr>
          <a:xfrm>
            <a:off x="2035816" y="5270374"/>
            <a:ext cx="1020618" cy="4955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帳戶凍結</a:t>
            </a:r>
            <a:endParaRPr lang="en-US" altLang="zh-TW" sz="1200" b="1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原始保證金</a:t>
            </a:r>
          </a:p>
        </p:txBody>
      </p:sp>
      <p:grpSp>
        <p:nvGrpSpPr>
          <p:cNvPr id="672" name="群組 671">
            <a:extLst>
              <a:ext uri="{FF2B5EF4-FFF2-40B4-BE49-F238E27FC236}">
                <a16:creationId xmlns:a16="http://schemas.microsoft.com/office/drawing/2014/main" id="{B2EA380E-7EF9-3D5E-FDFD-F4D75587F463}"/>
              </a:ext>
            </a:extLst>
          </p:cNvPr>
          <p:cNvGrpSpPr/>
          <p:nvPr/>
        </p:nvGrpSpPr>
        <p:grpSpPr>
          <a:xfrm>
            <a:off x="3661422" y="3870661"/>
            <a:ext cx="4506736" cy="2829656"/>
            <a:chOff x="4033641" y="3968016"/>
            <a:chExt cx="4506736" cy="2829656"/>
          </a:xfrm>
        </p:grpSpPr>
        <p:sp>
          <p:nvSpPr>
            <p:cNvPr id="27" name="矩形: 圓角 26">
              <a:extLst>
                <a:ext uri="{FF2B5EF4-FFF2-40B4-BE49-F238E27FC236}">
                  <a16:creationId xmlns:a16="http://schemas.microsoft.com/office/drawing/2014/main" id="{AD0A47B8-3349-4BCA-352A-C7544DD421B2}"/>
                </a:ext>
              </a:extLst>
            </p:cNvPr>
            <p:cNvSpPr/>
            <p:nvPr/>
          </p:nvSpPr>
          <p:spPr>
            <a:xfrm>
              <a:off x="4033641" y="3968016"/>
              <a:ext cx="4506736" cy="63513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即時損益變動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081D171-1CED-47B1-5FA3-78243C22228C}"/>
                </a:ext>
              </a:extLst>
            </p:cNvPr>
            <p:cNvSpPr/>
            <p:nvPr/>
          </p:nvSpPr>
          <p:spPr>
            <a:xfrm>
              <a:off x="4033641" y="4429125"/>
              <a:ext cx="4506736" cy="236854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C708ED2-D84E-2ECA-9780-4B5A390BF2FC}"/>
                </a:ext>
              </a:extLst>
            </p:cNvPr>
            <p:cNvGrpSpPr/>
            <p:nvPr/>
          </p:nvGrpSpPr>
          <p:grpSpPr>
            <a:xfrm>
              <a:off x="4435251" y="4443613"/>
              <a:ext cx="1143001" cy="635136"/>
              <a:chOff x="5267325" y="4505797"/>
              <a:chExt cx="1143001" cy="635136"/>
            </a:xfrm>
          </p:grpSpPr>
          <p:sp>
            <p:nvSpPr>
              <p:cNvPr id="29" name="菱形 28">
                <a:extLst>
                  <a:ext uri="{FF2B5EF4-FFF2-40B4-BE49-F238E27FC236}">
                    <a16:creationId xmlns:a16="http://schemas.microsoft.com/office/drawing/2014/main" id="{B81097D1-F167-F68B-A2AA-384EB6C5E843}"/>
                  </a:ext>
                </a:extLst>
              </p:cNvPr>
              <p:cNvSpPr/>
              <p:nvPr/>
            </p:nvSpPr>
            <p:spPr>
              <a:xfrm>
                <a:off x="5267325" y="4505797"/>
                <a:ext cx="1143000" cy="635136"/>
              </a:xfrm>
              <a:prstGeom prst="diamond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ABBBB42-94D4-37E7-E0DF-28B57393E0D2}"/>
                  </a:ext>
                </a:extLst>
              </p:cNvPr>
              <p:cNvSpPr txBox="1"/>
              <p:nvPr/>
            </p:nvSpPr>
            <p:spPr>
              <a:xfrm>
                <a:off x="5267326" y="4642196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維持保證金 </a:t>
                </a:r>
                <a:r>
                  <a:rPr lang="en-US" altLang="zh-TW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&gt;</a:t>
                </a:r>
              </a:p>
              <a:p>
                <a:pPr algn="ctr"/>
                <a:r>
                  <a:rPr lang="zh-TW" altLang="en-US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權益數</a:t>
                </a:r>
              </a:p>
            </p:txBody>
          </p:sp>
        </p:grpSp>
        <p:sp>
          <p:nvSpPr>
            <p:cNvPr id="33" name="菱形 32">
              <a:extLst>
                <a:ext uri="{FF2B5EF4-FFF2-40B4-BE49-F238E27FC236}">
                  <a16:creationId xmlns:a16="http://schemas.microsoft.com/office/drawing/2014/main" id="{5592CFF3-867B-52B7-27E7-4A03EBC5EA2E}"/>
                </a:ext>
              </a:extLst>
            </p:cNvPr>
            <p:cNvSpPr/>
            <p:nvPr/>
          </p:nvSpPr>
          <p:spPr>
            <a:xfrm>
              <a:off x="5186889" y="4890335"/>
              <a:ext cx="1143000" cy="635136"/>
            </a:xfrm>
            <a:prstGeom prst="diamond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C4A5E0C2-D21F-426E-2208-185BF91928A1}"/>
                </a:ext>
              </a:extLst>
            </p:cNvPr>
            <p:cNvSpPr txBox="1"/>
            <p:nvPr/>
          </p:nvSpPr>
          <p:spPr>
            <a:xfrm>
              <a:off x="5167840" y="500879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00" dirty="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未在期限內</a:t>
              </a:r>
              <a:endParaRPr lang="en-US" altLang="zh-TW" sz="100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  <a:p>
              <a:pPr algn="ctr"/>
              <a:r>
                <a:rPr lang="zh-TW" altLang="en-US" sz="1000" dirty="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補足保證金</a:t>
              </a:r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D1408658-751F-81EF-D4CA-9C8D9FCAA164}"/>
                </a:ext>
              </a:extLst>
            </p:cNvPr>
            <p:cNvGrpSpPr/>
            <p:nvPr/>
          </p:nvGrpSpPr>
          <p:grpSpPr>
            <a:xfrm>
              <a:off x="5963024" y="5345012"/>
              <a:ext cx="1162050" cy="635136"/>
              <a:chOff x="5248276" y="4466042"/>
              <a:chExt cx="1162050" cy="635136"/>
            </a:xfrm>
          </p:grpSpPr>
          <p:sp>
            <p:nvSpPr>
              <p:cNvPr id="36" name="菱形 35">
                <a:extLst>
                  <a:ext uri="{FF2B5EF4-FFF2-40B4-BE49-F238E27FC236}">
                    <a16:creationId xmlns:a16="http://schemas.microsoft.com/office/drawing/2014/main" id="{69C4830A-84CF-90E3-60FD-190F50BF485C}"/>
                  </a:ext>
                </a:extLst>
              </p:cNvPr>
              <p:cNvSpPr/>
              <p:nvPr/>
            </p:nvSpPr>
            <p:spPr>
              <a:xfrm>
                <a:off x="5267325" y="4466042"/>
                <a:ext cx="1143000" cy="635136"/>
              </a:xfrm>
              <a:prstGeom prst="diamond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86A1250-B0F8-2AC3-CD6E-FE5CC3776CD2}"/>
                  </a:ext>
                </a:extLst>
              </p:cNvPr>
              <p:cNvSpPr txBox="1"/>
              <p:nvPr/>
            </p:nvSpPr>
            <p:spPr>
              <a:xfrm>
                <a:off x="5248276" y="4589085"/>
                <a:ext cx="1162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風險指標</a:t>
                </a:r>
                <a:endParaRPr lang="en-US" altLang="zh-TW" sz="1000" dirty="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  <a:p>
                <a:pPr algn="ctr"/>
                <a:r>
                  <a:rPr lang="zh-TW" altLang="en-US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低於</a:t>
                </a:r>
                <a:r>
                  <a:rPr lang="en-US" altLang="zh-TW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25%</a:t>
                </a:r>
                <a:endParaRPr lang="zh-TW" altLang="en-US" sz="1000" dirty="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A2475AF0-2DF7-4DD4-8A4D-A6214297A57A}"/>
                </a:ext>
              </a:extLst>
            </p:cNvPr>
            <p:cNvGrpSpPr/>
            <p:nvPr/>
          </p:nvGrpSpPr>
          <p:grpSpPr>
            <a:xfrm>
              <a:off x="6721416" y="5800695"/>
              <a:ext cx="1143000" cy="635136"/>
              <a:chOff x="5267325" y="4505797"/>
              <a:chExt cx="1143000" cy="635136"/>
            </a:xfrm>
          </p:grpSpPr>
          <p:sp>
            <p:nvSpPr>
              <p:cNvPr id="39" name="菱形 38">
                <a:extLst>
                  <a:ext uri="{FF2B5EF4-FFF2-40B4-BE49-F238E27FC236}">
                    <a16:creationId xmlns:a16="http://schemas.microsoft.com/office/drawing/2014/main" id="{BCEE3FD9-9EFF-4263-AC59-5785C821BAB3}"/>
                  </a:ext>
                </a:extLst>
              </p:cNvPr>
              <p:cNvSpPr/>
              <p:nvPr/>
            </p:nvSpPr>
            <p:spPr>
              <a:xfrm>
                <a:off x="5267325" y="4505797"/>
                <a:ext cx="1143000" cy="635136"/>
              </a:xfrm>
              <a:prstGeom prst="diamond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4CC448C3-9F64-FE55-CA6D-DF84BBFD61C3}"/>
                  </a:ext>
                </a:extLst>
              </p:cNvPr>
              <p:cNvSpPr txBox="1"/>
              <p:nvPr/>
            </p:nvSpPr>
            <p:spPr>
              <a:xfrm>
                <a:off x="5267325" y="4624253"/>
                <a:ext cx="1143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強制平倉</a:t>
                </a:r>
                <a:endParaRPr lang="en-US" altLang="zh-TW" sz="1000" dirty="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  <a:p>
                <a:pPr algn="ctr"/>
                <a:r>
                  <a:rPr lang="en-US" altLang="zh-TW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0</a:t>
                </a:r>
                <a:r>
                  <a:rPr lang="zh-TW" altLang="en-US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 </a:t>
                </a:r>
                <a:r>
                  <a:rPr lang="en-US" altLang="zh-TW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&gt;</a:t>
                </a:r>
                <a:r>
                  <a:rPr lang="zh-TW" altLang="en-US" sz="1000" dirty="0">
                    <a:solidFill>
                      <a:schemeClr val="bg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rPr>
                  <a:t> 權益數</a:t>
                </a:r>
              </a:p>
            </p:txBody>
          </p:sp>
        </p:grpSp>
        <p:sp>
          <p:nvSpPr>
            <p:cNvPr id="59" name="矩形: 圓角 58">
              <a:extLst>
                <a:ext uri="{FF2B5EF4-FFF2-40B4-BE49-F238E27FC236}">
                  <a16:creationId xmlns:a16="http://schemas.microsoft.com/office/drawing/2014/main" id="{CC991C7E-AECF-D61E-BBDB-36B059CBF545}"/>
                </a:ext>
              </a:extLst>
            </p:cNvPr>
            <p:cNvSpPr/>
            <p:nvPr/>
          </p:nvSpPr>
          <p:spPr>
            <a:xfrm>
              <a:off x="4090532" y="5522294"/>
              <a:ext cx="699315" cy="3094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安全</a:t>
              </a:r>
            </a:p>
          </p:txBody>
        </p: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21304BE0-49F7-5F1D-D335-AACC1B7C5EB7}"/>
                </a:ext>
              </a:extLst>
            </p:cNvPr>
            <p:cNvCxnSpPr>
              <a:cxnSpLocks/>
              <a:stCxn id="37" idx="1"/>
              <a:endCxn id="59" idx="3"/>
            </p:cNvCxnSpPr>
            <p:nvPr/>
          </p:nvCxnSpPr>
          <p:spPr>
            <a:xfrm flipH="1">
              <a:off x="4789847" y="5668110"/>
              <a:ext cx="1173177" cy="88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接點: 肘形 62">
              <a:extLst>
                <a:ext uri="{FF2B5EF4-FFF2-40B4-BE49-F238E27FC236}">
                  <a16:creationId xmlns:a16="http://schemas.microsoft.com/office/drawing/2014/main" id="{C7E9D7B7-8DBF-2E7C-E9F5-C6F6F9605334}"/>
                </a:ext>
              </a:extLst>
            </p:cNvPr>
            <p:cNvCxnSpPr>
              <a:cxnSpLocks/>
              <a:stCxn id="34" idx="1"/>
              <a:endCxn id="59" idx="0"/>
            </p:cNvCxnSpPr>
            <p:nvPr/>
          </p:nvCxnSpPr>
          <p:spPr>
            <a:xfrm rot="10800000" flipV="1">
              <a:off x="4440190" y="5208846"/>
              <a:ext cx="727650" cy="31344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1" name="直線單箭頭接點 640">
              <a:extLst>
                <a:ext uri="{FF2B5EF4-FFF2-40B4-BE49-F238E27FC236}">
                  <a16:creationId xmlns:a16="http://schemas.microsoft.com/office/drawing/2014/main" id="{298E37E0-F1C7-5CFD-0050-204C32802611}"/>
                </a:ext>
              </a:extLst>
            </p:cNvPr>
            <p:cNvCxnSpPr>
              <a:stCxn id="30" idx="1"/>
              <a:endCxn id="59" idx="0"/>
            </p:cNvCxnSpPr>
            <p:nvPr/>
          </p:nvCxnSpPr>
          <p:spPr>
            <a:xfrm>
              <a:off x="4435252" y="4780067"/>
              <a:ext cx="4938" cy="74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3" name="接點: 肘形 642">
              <a:extLst>
                <a:ext uri="{FF2B5EF4-FFF2-40B4-BE49-F238E27FC236}">
                  <a16:creationId xmlns:a16="http://schemas.microsoft.com/office/drawing/2014/main" id="{E34F03AD-A042-5DA9-DBC3-731A7C35385C}"/>
                </a:ext>
              </a:extLst>
            </p:cNvPr>
            <p:cNvCxnSpPr>
              <a:stCxn id="29" idx="3"/>
              <a:endCxn id="33" idx="0"/>
            </p:cNvCxnSpPr>
            <p:nvPr/>
          </p:nvCxnSpPr>
          <p:spPr>
            <a:xfrm>
              <a:off x="5578251" y="4761181"/>
              <a:ext cx="180138" cy="12915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4" name="接點: 肘形 643">
              <a:extLst>
                <a:ext uri="{FF2B5EF4-FFF2-40B4-BE49-F238E27FC236}">
                  <a16:creationId xmlns:a16="http://schemas.microsoft.com/office/drawing/2014/main" id="{EF7EB072-768A-8BE3-B2B8-C20C42E27E9B}"/>
                </a:ext>
              </a:extLst>
            </p:cNvPr>
            <p:cNvCxnSpPr>
              <a:cxnSpLocks/>
              <a:stCxn id="34" idx="3"/>
              <a:endCxn id="36" idx="0"/>
            </p:cNvCxnSpPr>
            <p:nvPr/>
          </p:nvCxnSpPr>
          <p:spPr>
            <a:xfrm>
              <a:off x="6310840" y="5208846"/>
              <a:ext cx="242733" cy="13616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1" name="接點: 肘形 650">
              <a:extLst>
                <a:ext uri="{FF2B5EF4-FFF2-40B4-BE49-F238E27FC236}">
                  <a16:creationId xmlns:a16="http://schemas.microsoft.com/office/drawing/2014/main" id="{0BFB3684-6B00-E1AF-99E9-A34681DA8AA5}"/>
                </a:ext>
              </a:extLst>
            </p:cNvPr>
            <p:cNvCxnSpPr>
              <a:cxnSpLocks/>
              <a:stCxn id="37" idx="3"/>
              <a:endCxn id="39" idx="0"/>
            </p:cNvCxnSpPr>
            <p:nvPr/>
          </p:nvCxnSpPr>
          <p:spPr>
            <a:xfrm>
              <a:off x="7125074" y="5668110"/>
              <a:ext cx="167842" cy="13258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4" name="矩形: 圓角 653">
              <a:extLst>
                <a:ext uri="{FF2B5EF4-FFF2-40B4-BE49-F238E27FC236}">
                  <a16:creationId xmlns:a16="http://schemas.microsoft.com/office/drawing/2014/main" id="{4B496A2C-CB51-AB0D-8971-45185EA776C8}"/>
                </a:ext>
              </a:extLst>
            </p:cNvPr>
            <p:cNvSpPr/>
            <p:nvPr/>
          </p:nvSpPr>
          <p:spPr>
            <a:xfrm>
              <a:off x="7431706" y="6411705"/>
              <a:ext cx="1058806" cy="309430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超額損失</a:t>
              </a:r>
              <a:endParaRPr lang="en-US" altLang="zh-TW" sz="80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  <a:p>
              <a:pPr algn="ctr"/>
              <a:r>
                <a:rPr lang="zh-TW" altLang="en-US" sz="800" dirty="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負債需賠償</a:t>
              </a:r>
            </a:p>
          </p:txBody>
        </p:sp>
        <p:sp>
          <p:nvSpPr>
            <p:cNvPr id="655" name="矩形: 圓角 654">
              <a:extLst>
                <a:ext uri="{FF2B5EF4-FFF2-40B4-BE49-F238E27FC236}">
                  <a16:creationId xmlns:a16="http://schemas.microsoft.com/office/drawing/2014/main" id="{5F21F398-B863-54F4-FD10-249479B4C157}"/>
                </a:ext>
              </a:extLst>
            </p:cNvPr>
            <p:cNvSpPr/>
            <p:nvPr/>
          </p:nvSpPr>
          <p:spPr>
            <a:xfrm>
              <a:off x="6081679" y="6411705"/>
              <a:ext cx="1073058" cy="3094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700" b="1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扣除虧損</a:t>
              </a:r>
              <a:endParaRPr lang="en-US" altLang="zh-TW" sz="7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  <a:p>
              <a:pPr algn="ctr"/>
              <a:r>
                <a:rPr lang="zh-TW" altLang="en-US" sz="700" b="1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剩餘資金退回權益數</a:t>
              </a:r>
            </a:p>
          </p:txBody>
        </p:sp>
        <p:cxnSp>
          <p:nvCxnSpPr>
            <p:cNvPr id="657" name="接點: 肘形 656">
              <a:extLst>
                <a:ext uri="{FF2B5EF4-FFF2-40B4-BE49-F238E27FC236}">
                  <a16:creationId xmlns:a16="http://schemas.microsoft.com/office/drawing/2014/main" id="{AB03F66F-D63E-3757-FF01-055A34CB6131}"/>
                </a:ext>
              </a:extLst>
            </p:cNvPr>
            <p:cNvCxnSpPr>
              <a:cxnSpLocks/>
              <a:stCxn id="40" idx="1"/>
              <a:endCxn id="655" idx="0"/>
            </p:cNvCxnSpPr>
            <p:nvPr/>
          </p:nvCxnSpPr>
          <p:spPr>
            <a:xfrm rot="10800000" flipV="1">
              <a:off x="6618208" y="6119205"/>
              <a:ext cx="103208" cy="292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9" name="接點: 肘形 658">
              <a:extLst>
                <a:ext uri="{FF2B5EF4-FFF2-40B4-BE49-F238E27FC236}">
                  <a16:creationId xmlns:a16="http://schemas.microsoft.com/office/drawing/2014/main" id="{62BEC329-8510-3ADE-2DAE-CA42A69326D6}"/>
                </a:ext>
              </a:extLst>
            </p:cNvPr>
            <p:cNvCxnSpPr>
              <a:cxnSpLocks/>
              <a:stCxn id="40" idx="3"/>
              <a:endCxn id="654" idx="0"/>
            </p:cNvCxnSpPr>
            <p:nvPr/>
          </p:nvCxnSpPr>
          <p:spPr>
            <a:xfrm>
              <a:off x="7864416" y="6119206"/>
              <a:ext cx="96693" cy="2924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2" name="文字方塊 661">
              <a:extLst>
                <a:ext uri="{FF2B5EF4-FFF2-40B4-BE49-F238E27FC236}">
                  <a16:creationId xmlns:a16="http://schemas.microsoft.com/office/drawing/2014/main" id="{C285F6D3-6E3F-FB3A-D592-8E36972A0F64}"/>
                </a:ext>
              </a:extLst>
            </p:cNvPr>
            <p:cNvSpPr txBox="1"/>
            <p:nvPr/>
          </p:nvSpPr>
          <p:spPr>
            <a:xfrm>
              <a:off x="4225365" y="4890335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否</a:t>
              </a:r>
            </a:p>
          </p:txBody>
        </p:sp>
        <p:sp>
          <p:nvSpPr>
            <p:cNvPr id="663" name="文字方塊 662">
              <a:extLst>
                <a:ext uri="{FF2B5EF4-FFF2-40B4-BE49-F238E27FC236}">
                  <a16:creationId xmlns:a16="http://schemas.microsoft.com/office/drawing/2014/main" id="{F84DBE7B-83A3-349E-7EA1-F073EF07C637}"/>
                </a:ext>
              </a:extLst>
            </p:cNvPr>
            <p:cNvSpPr txBox="1"/>
            <p:nvPr/>
          </p:nvSpPr>
          <p:spPr>
            <a:xfrm>
              <a:off x="4736858" y="5178497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否</a:t>
              </a:r>
            </a:p>
          </p:txBody>
        </p:sp>
        <p:sp>
          <p:nvSpPr>
            <p:cNvPr id="664" name="文字方塊 663">
              <a:extLst>
                <a:ext uri="{FF2B5EF4-FFF2-40B4-BE49-F238E27FC236}">
                  <a16:creationId xmlns:a16="http://schemas.microsoft.com/office/drawing/2014/main" id="{F4FE4A2C-7FB5-866B-2B4F-FF8C4D1EF00E}"/>
                </a:ext>
              </a:extLst>
            </p:cNvPr>
            <p:cNvSpPr txBox="1"/>
            <p:nvPr/>
          </p:nvSpPr>
          <p:spPr>
            <a:xfrm>
              <a:off x="5340994" y="5698841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否</a:t>
              </a:r>
            </a:p>
          </p:txBody>
        </p:sp>
        <p:sp>
          <p:nvSpPr>
            <p:cNvPr id="665" name="文字方塊 664">
              <a:extLst>
                <a:ext uri="{FF2B5EF4-FFF2-40B4-BE49-F238E27FC236}">
                  <a16:creationId xmlns:a16="http://schemas.microsoft.com/office/drawing/2014/main" id="{4046C989-2EB4-DF77-7FF5-87E8365E1789}"/>
                </a:ext>
              </a:extLst>
            </p:cNvPr>
            <p:cNvSpPr txBox="1"/>
            <p:nvPr/>
          </p:nvSpPr>
          <p:spPr>
            <a:xfrm>
              <a:off x="5578734" y="4531749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是</a:t>
              </a:r>
            </a:p>
          </p:txBody>
        </p:sp>
        <p:sp>
          <p:nvSpPr>
            <p:cNvPr id="666" name="文字方塊 665">
              <a:extLst>
                <a:ext uri="{FF2B5EF4-FFF2-40B4-BE49-F238E27FC236}">
                  <a16:creationId xmlns:a16="http://schemas.microsoft.com/office/drawing/2014/main" id="{B67B1713-8CEE-ABBB-3DFF-3B29EB12F1FA}"/>
                </a:ext>
              </a:extLst>
            </p:cNvPr>
            <p:cNvSpPr txBox="1"/>
            <p:nvPr/>
          </p:nvSpPr>
          <p:spPr>
            <a:xfrm>
              <a:off x="6347263" y="4999223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是</a:t>
              </a:r>
            </a:p>
          </p:txBody>
        </p:sp>
        <p:sp>
          <p:nvSpPr>
            <p:cNvPr id="667" name="文字方塊 666">
              <a:extLst>
                <a:ext uri="{FF2B5EF4-FFF2-40B4-BE49-F238E27FC236}">
                  <a16:creationId xmlns:a16="http://schemas.microsoft.com/office/drawing/2014/main" id="{26895562-BD12-A1FC-0D0C-8E0325D67CBF}"/>
                </a:ext>
              </a:extLst>
            </p:cNvPr>
            <p:cNvSpPr txBox="1"/>
            <p:nvPr/>
          </p:nvSpPr>
          <p:spPr>
            <a:xfrm>
              <a:off x="7098551" y="5452198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是</a:t>
              </a:r>
            </a:p>
          </p:txBody>
        </p:sp>
        <p:sp>
          <p:nvSpPr>
            <p:cNvPr id="670" name="文字方塊 669">
              <a:extLst>
                <a:ext uri="{FF2B5EF4-FFF2-40B4-BE49-F238E27FC236}">
                  <a16:creationId xmlns:a16="http://schemas.microsoft.com/office/drawing/2014/main" id="{90B0583A-822C-203B-B799-ABF775D37601}"/>
                </a:ext>
              </a:extLst>
            </p:cNvPr>
            <p:cNvSpPr txBox="1"/>
            <p:nvPr/>
          </p:nvSpPr>
          <p:spPr>
            <a:xfrm>
              <a:off x="7963946" y="6118263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是</a:t>
              </a:r>
            </a:p>
          </p:txBody>
        </p:sp>
        <p:sp>
          <p:nvSpPr>
            <p:cNvPr id="671" name="文字方塊 670">
              <a:extLst>
                <a:ext uri="{FF2B5EF4-FFF2-40B4-BE49-F238E27FC236}">
                  <a16:creationId xmlns:a16="http://schemas.microsoft.com/office/drawing/2014/main" id="{97983B83-26E6-000A-8510-3DB903F0D23D}"/>
                </a:ext>
              </a:extLst>
            </p:cNvPr>
            <p:cNvSpPr txBox="1"/>
            <p:nvPr/>
          </p:nvSpPr>
          <p:spPr>
            <a:xfrm>
              <a:off x="6400119" y="6127300"/>
              <a:ext cx="2098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05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否</a:t>
              </a:r>
            </a:p>
          </p:txBody>
        </p:sp>
      </p:grpSp>
      <p:sp>
        <p:nvSpPr>
          <p:cNvPr id="673" name="矩形: 圓角 672">
            <a:extLst>
              <a:ext uri="{FF2B5EF4-FFF2-40B4-BE49-F238E27FC236}">
                <a16:creationId xmlns:a16="http://schemas.microsoft.com/office/drawing/2014/main" id="{FC1F4EEF-3CDF-86B3-3FED-1AB8F909C445}"/>
              </a:ext>
            </a:extLst>
          </p:cNvPr>
          <p:cNvSpPr/>
          <p:nvPr/>
        </p:nvSpPr>
        <p:spPr>
          <a:xfrm>
            <a:off x="8773146" y="3867785"/>
            <a:ext cx="1020618" cy="6351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收盤</a:t>
            </a:r>
          </a:p>
        </p:txBody>
      </p:sp>
      <p:sp>
        <p:nvSpPr>
          <p:cNvPr id="674" name="矩形: 圓角 673">
            <a:extLst>
              <a:ext uri="{FF2B5EF4-FFF2-40B4-BE49-F238E27FC236}">
                <a16:creationId xmlns:a16="http://schemas.microsoft.com/office/drawing/2014/main" id="{B4EDADA4-442B-9511-EE6E-1D2ADC83B638}"/>
              </a:ext>
            </a:extLst>
          </p:cNvPr>
          <p:cNvSpPr/>
          <p:nvPr/>
        </p:nvSpPr>
        <p:spPr>
          <a:xfrm>
            <a:off x="10533449" y="3867785"/>
            <a:ext cx="1020618" cy="6351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結算</a:t>
            </a:r>
          </a:p>
        </p:txBody>
      </p:sp>
      <p:sp>
        <p:nvSpPr>
          <p:cNvPr id="675" name="矩形: 圓角 674">
            <a:extLst>
              <a:ext uri="{FF2B5EF4-FFF2-40B4-BE49-F238E27FC236}">
                <a16:creationId xmlns:a16="http://schemas.microsoft.com/office/drawing/2014/main" id="{D35DA7D1-EFAD-5F5D-11DD-9E7A37D12BF9}"/>
              </a:ext>
            </a:extLst>
          </p:cNvPr>
          <p:cNvSpPr/>
          <p:nvPr/>
        </p:nvSpPr>
        <p:spPr>
          <a:xfrm>
            <a:off x="10533449" y="4894379"/>
            <a:ext cx="1020618" cy="6351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期貨商繳交結算保證金</a:t>
            </a:r>
          </a:p>
        </p:txBody>
      </p:sp>
      <p:sp>
        <p:nvSpPr>
          <p:cNvPr id="676" name="矩形: 圓角 675">
            <a:extLst>
              <a:ext uri="{FF2B5EF4-FFF2-40B4-BE49-F238E27FC236}">
                <a16:creationId xmlns:a16="http://schemas.microsoft.com/office/drawing/2014/main" id="{B8557194-0A14-8DCE-16DB-4FC01F51E1EE}"/>
              </a:ext>
            </a:extLst>
          </p:cNvPr>
          <p:cNvSpPr/>
          <p:nvPr/>
        </p:nvSpPr>
        <p:spPr>
          <a:xfrm>
            <a:off x="10533449" y="5541121"/>
            <a:ext cx="1020618" cy="49160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追繳通知</a:t>
            </a:r>
          </a:p>
        </p:txBody>
      </p:sp>
      <p:cxnSp>
        <p:nvCxnSpPr>
          <p:cNvPr id="678" name="直線單箭頭接點 677">
            <a:extLst>
              <a:ext uri="{FF2B5EF4-FFF2-40B4-BE49-F238E27FC236}">
                <a16:creationId xmlns:a16="http://schemas.microsoft.com/office/drawing/2014/main" id="{117FF83E-048D-CE29-9B13-18378FD9CB56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1578499" y="4331104"/>
            <a:ext cx="457317" cy="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9" name="直線單箭頭接點 678">
            <a:extLst>
              <a:ext uri="{FF2B5EF4-FFF2-40B4-BE49-F238E27FC236}">
                <a16:creationId xmlns:a16="http://schemas.microsoft.com/office/drawing/2014/main" id="{312E87E8-4D15-6BB3-3BA6-AE430F9C964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2546125" y="4648672"/>
            <a:ext cx="0" cy="62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2" name="直線單箭頭接點 681">
            <a:extLst>
              <a:ext uri="{FF2B5EF4-FFF2-40B4-BE49-F238E27FC236}">
                <a16:creationId xmlns:a16="http://schemas.microsoft.com/office/drawing/2014/main" id="{7019385B-5C5E-B35B-C57E-19E9AD7E1A05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 flipV="1">
            <a:off x="3056434" y="5516044"/>
            <a:ext cx="604988" cy="2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6" name="直線單箭頭接點 685">
            <a:extLst>
              <a:ext uri="{FF2B5EF4-FFF2-40B4-BE49-F238E27FC236}">
                <a16:creationId xmlns:a16="http://schemas.microsoft.com/office/drawing/2014/main" id="{BF010131-1790-8B0C-CDF2-CFF8AEB344A7}"/>
              </a:ext>
            </a:extLst>
          </p:cNvPr>
          <p:cNvCxnSpPr>
            <a:cxnSpLocks/>
            <a:stCxn id="27" idx="3"/>
            <a:endCxn id="673" idx="1"/>
          </p:cNvCxnSpPr>
          <p:nvPr/>
        </p:nvCxnSpPr>
        <p:spPr>
          <a:xfrm flipV="1">
            <a:off x="8168158" y="4185353"/>
            <a:ext cx="604988" cy="2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9" name="直線單箭頭接點 688">
            <a:extLst>
              <a:ext uri="{FF2B5EF4-FFF2-40B4-BE49-F238E27FC236}">
                <a16:creationId xmlns:a16="http://schemas.microsoft.com/office/drawing/2014/main" id="{31C93296-393F-33FF-B2FA-4FA4E19D83AA}"/>
              </a:ext>
            </a:extLst>
          </p:cNvPr>
          <p:cNvCxnSpPr>
            <a:cxnSpLocks/>
            <a:stCxn id="673" idx="3"/>
            <a:endCxn id="674" idx="1"/>
          </p:cNvCxnSpPr>
          <p:nvPr/>
        </p:nvCxnSpPr>
        <p:spPr>
          <a:xfrm>
            <a:off x="9793764" y="4185353"/>
            <a:ext cx="739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2" name="直線單箭頭接點 691">
            <a:extLst>
              <a:ext uri="{FF2B5EF4-FFF2-40B4-BE49-F238E27FC236}">
                <a16:creationId xmlns:a16="http://schemas.microsoft.com/office/drawing/2014/main" id="{95CE1819-7B44-B8B6-CFBB-CAE28ADE568D}"/>
              </a:ext>
            </a:extLst>
          </p:cNvPr>
          <p:cNvCxnSpPr>
            <a:cxnSpLocks/>
            <a:stCxn id="674" idx="2"/>
            <a:endCxn id="675" idx="0"/>
          </p:cNvCxnSpPr>
          <p:nvPr/>
        </p:nvCxnSpPr>
        <p:spPr>
          <a:xfrm>
            <a:off x="11043758" y="4502921"/>
            <a:ext cx="0" cy="391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直線接點 696">
            <a:extLst>
              <a:ext uri="{FF2B5EF4-FFF2-40B4-BE49-F238E27FC236}">
                <a16:creationId xmlns:a16="http://schemas.microsoft.com/office/drawing/2014/main" id="{8C5C452A-7F04-9C21-D249-33A7A72E0FE1}"/>
              </a:ext>
            </a:extLst>
          </p:cNvPr>
          <p:cNvCxnSpPr>
            <a:stCxn id="6" idx="6"/>
            <a:endCxn id="14" idx="2"/>
          </p:cNvCxnSpPr>
          <p:nvPr/>
        </p:nvCxnSpPr>
        <p:spPr>
          <a:xfrm flipV="1">
            <a:off x="1228725" y="3131240"/>
            <a:ext cx="1088800" cy="120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8" name="直線接點 697">
            <a:extLst>
              <a:ext uri="{FF2B5EF4-FFF2-40B4-BE49-F238E27FC236}">
                <a16:creationId xmlns:a16="http://schemas.microsoft.com/office/drawing/2014/main" id="{B616C3F3-DEF7-FDB3-DDB1-9A7534AD86AD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>
            <a:off x="2774725" y="3131240"/>
            <a:ext cx="2931460" cy="121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1" name="直線接點 700">
            <a:extLst>
              <a:ext uri="{FF2B5EF4-FFF2-40B4-BE49-F238E27FC236}">
                <a16:creationId xmlns:a16="http://schemas.microsoft.com/office/drawing/2014/main" id="{D2B09288-CCCD-5EBD-5B9F-E21C9CFD00C3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>
          <a:xfrm flipV="1">
            <a:off x="6163385" y="3109988"/>
            <a:ext cx="2834858" cy="3337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5" name="直線接點 704">
            <a:extLst>
              <a:ext uri="{FF2B5EF4-FFF2-40B4-BE49-F238E27FC236}">
                <a16:creationId xmlns:a16="http://schemas.microsoft.com/office/drawing/2014/main" id="{AA2241DB-4983-D34C-D2D9-9E97A2F832D1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 flipV="1">
            <a:off x="9455443" y="3081413"/>
            <a:ext cx="1287556" cy="2857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8" name="文字方塊 707">
            <a:extLst>
              <a:ext uri="{FF2B5EF4-FFF2-40B4-BE49-F238E27FC236}">
                <a16:creationId xmlns:a16="http://schemas.microsoft.com/office/drawing/2014/main" id="{C320439F-36F4-FDE9-7937-6139A0BDF4FA}"/>
              </a:ext>
            </a:extLst>
          </p:cNvPr>
          <p:cNvSpPr txBox="1"/>
          <p:nvPr/>
        </p:nvSpPr>
        <p:spPr>
          <a:xfrm>
            <a:off x="491204" y="3367163"/>
            <a:ext cx="102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08:30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前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14:50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前</a:t>
            </a:r>
          </a:p>
        </p:txBody>
      </p:sp>
      <p:sp>
        <p:nvSpPr>
          <p:cNvPr id="709" name="文字方塊 708">
            <a:extLst>
              <a:ext uri="{FF2B5EF4-FFF2-40B4-BE49-F238E27FC236}">
                <a16:creationId xmlns:a16="http://schemas.microsoft.com/office/drawing/2014/main" id="{43980D65-87E1-3767-2F1B-08FF923AFB02}"/>
              </a:ext>
            </a:extLst>
          </p:cNvPr>
          <p:cNvSpPr txBox="1"/>
          <p:nvPr/>
        </p:nvSpPr>
        <p:spPr>
          <a:xfrm>
            <a:off x="2033163" y="3367163"/>
            <a:ext cx="102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08:45 </a:t>
            </a:r>
          </a:p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15:00 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10" name="文字方塊 709">
            <a:extLst>
              <a:ext uri="{FF2B5EF4-FFF2-40B4-BE49-F238E27FC236}">
                <a16:creationId xmlns:a16="http://schemas.microsoft.com/office/drawing/2014/main" id="{FDBBAD04-A97F-13D0-B147-E033ABE6E333}"/>
              </a:ext>
            </a:extLst>
          </p:cNvPr>
          <p:cNvSpPr txBox="1"/>
          <p:nvPr/>
        </p:nvSpPr>
        <p:spPr>
          <a:xfrm>
            <a:off x="5119470" y="3376993"/>
            <a:ext cx="1610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08:45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–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13:45 </a:t>
            </a:r>
          </a:p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15:00 –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05:00 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12" name="文字方塊 711">
            <a:extLst>
              <a:ext uri="{FF2B5EF4-FFF2-40B4-BE49-F238E27FC236}">
                <a16:creationId xmlns:a16="http://schemas.microsoft.com/office/drawing/2014/main" id="{70318D9A-486C-1D7D-2238-0D493F39B1B2}"/>
              </a:ext>
            </a:extLst>
          </p:cNvPr>
          <p:cNvSpPr txBox="1"/>
          <p:nvPr/>
        </p:nvSpPr>
        <p:spPr>
          <a:xfrm>
            <a:off x="8716533" y="3376993"/>
            <a:ext cx="102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13:45 </a:t>
            </a:r>
          </a:p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05:00 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13" name="文字方塊 712">
            <a:extLst>
              <a:ext uri="{FF2B5EF4-FFF2-40B4-BE49-F238E27FC236}">
                <a16:creationId xmlns:a16="http://schemas.microsoft.com/office/drawing/2014/main" id="{AB2FA51B-B33B-20DA-2837-4951315B1025}"/>
              </a:ext>
            </a:extLst>
          </p:cNvPr>
          <p:cNvSpPr txBox="1"/>
          <p:nvPr/>
        </p:nvSpPr>
        <p:spPr>
          <a:xfrm>
            <a:off x="10506400" y="3376993"/>
            <a:ext cx="102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14:30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後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05:00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後</a:t>
            </a:r>
          </a:p>
        </p:txBody>
      </p:sp>
      <p:sp>
        <p:nvSpPr>
          <p:cNvPr id="716" name="想法泡泡: 雲朵 715">
            <a:extLst>
              <a:ext uri="{FF2B5EF4-FFF2-40B4-BE49-F238E27FC236}">
                <a16:creationId xmlns:a16="http://schemas.microsoft.com/office/drawing/2014/main" id="{28528274-F157-8A15-FCFB-469F6FEBE78C}"/>
              </a:ext>
            </a:extLst>
          </p:cNvPr>
          <p:cNvSpPr/>
          <p:nvPr/>
        </p:nvSpPr>
        <p:spPr>
          <a:xfrm>
            <a:off x="6306497" y="4232854"/>
            <a:ext cx="1495116" cy="882458"/>
          </a:xfrm>
          <a:prstGeom prst="cloudCallout">
            <a:avLst>
              <a:gd name="adj1" fmla="val -39044"/>
              <a:gd name="adj2" fmla="val 78911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風險指標 </a:t>
            </a:r>
            <a:endParaRPr lang="en-US" altLang="zh-TW" sz="12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8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8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權益數 </a:t>
            </a:r>
            <a:endParaRPr lang="en-US" altLang="zh-TW" sz="8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algn="ctr"/>
            <a:r>
              <a:rPr lang="en-US" altLang="zh-TW" sz="8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/ </a:t>
            </a:r>
            <a:r>
              <a:rPr lang="zh-TW" altLang="en-US" sz="8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原始保證金   </a:t>
            </a:r>
            <a:endParaRPr lang="en-US" altLang="zh-TW" sz="8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sz="8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 x 100%</a:t>
            </a:r>
            <a:endParaRPr lang="zh-TW" altLang="en-US" sz="8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717" name="表格 716">
            <a:extLst>
              <a:ext uri="{FF2B5EF4-FFF2-40B4-BE49-F238E27FC236}">
                <a16:creationId xmlns:a16="http://schemas.microsoft.com/office/drawing/2014/main" id="{A8BEE946-FA78-0970-4469-1D876966C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413684"/>
              </p:ext>
            </p:extLst>
          </p:nvPr>
        </p:nvGraphicFramePr>
        <p:xfrm>
          <a:off x="5996443" y="975600"/>
          <a:ext cx="6062663" cy="1335194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1214755">
                  <a:extLst>
                    <a:ext uri="{9D8B030D-6E8A-4147-A177-3AD203B41FA5}">
                      <a16:colId xmlns:a16="http://schemas.microsoft.com/office/drawing/2014/main" val="683517192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899313675"/>
                    </a:ext>
                  </a:extLst>
                </a:gridCol>
                <a:gridCol w="1687830">
                  <a:extLst>
                    <a:ext uri="{9D8B030D-6E8A-4147-A177-3AD203B41FA5}">
                      <a16:colId xmlns:a16="http://schemas.microsoft.com/office/drawing/2014/main" val="3006082792"/>
                    </a:ext>
                  </a:extLst>
                </a:gridCol>
                <a:gridCol w="1721168">
                  <a:extLst>
                    <a:ext uri="{9D8B030D-6E8A-4147-A177-3AD203B41FA5}">
                      <a16:colId xmlns:a16="http://schemas.microsoft.com/office/drawing/2014/main" val="4106115814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3928603790"/>
                    </a:ext>
                  </a:extLst>
                </a:gridCol>
              </a:tblGrid>
              <a:tr h="18520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目前成交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未平倉損益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權益數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系統判定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78546"/>
                  </a:ext>
                </a:extLst>
              </a:tr>
              <a:tr h="160444"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09:00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18000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安全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60630"/>
                  </a:ext>
                </a:extLst>
              </a:tr>
              <a:tr h="249979"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09:30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17900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-100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x 200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-20000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200000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–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 = 180000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安全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89938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10:00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17500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-500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x 200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-100000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200000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–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100000 = 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危險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75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[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情況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斷頭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]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10:05</a:t>
                      </a:r>
                      <a:b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[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情況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負債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] 10:05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17100</a:t>
                      </a:r>
                    </a:p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16500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-900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x 200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-180000</a:t>
                      </a:r>
                    </a:p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-1500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x200 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-300000</a:t>
                      </a:r>
                      <a:endParaRPr lang="zh-TW" altLang="en-US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200000 –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180000 = 20000</a:t>
                      </a:r>
                    </a:p>
                    <a:p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200000 –</a:t>
                      </a:r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300000 = -100000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斷頭</a:t>
                      </a:r>
                      <a:endParaRPr lang="en-US" altLang="zh-TW" sz="9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9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負債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27707"/>
                  </a:ext>
                </a:extLst>
              </a:tr>
            </a:tbl>
          </a:graphicData>
        </a:graphic>
      </p:graphicFrame>
      <p:sp>
        <p:nvSpPr>
          <p:cNvPr id="718" name="箭號: 向右 717">
            <a:extLst>
              <a:ext uri="{FF2B5EF4-FFF2-40B4-BE49-F238E27FC236}">
                <a16:creationId xmlns:a16="http://schemas.microsoft.com/office/drawing/2014/main" id="{E72078B4-7768-2A1B-396F-D997C9641E77}"/>
              </a:ext>
            </a:extLst>
          </p:cNvPr>
          <p:cNvSpPr/>
          <p:nvPr/>
        </p:nvSpPr>
        <p:spPr>
          <a:xfrm rot="18181191">
            <a:off x="5957955" y="2448581"/>
            <a:ext cx="571500" cy="3969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9" name="文字方塊 718">
            <a:extLst>
              <a:ext uri="{FF2B5EF4-FFF2-40B4-BE49-F238E27FC236}">
                <a16:creationId xmlns:a16="http://schemas.microsoft.com/office/drawing/2014/main" id="{3F2A6CE0-C011-48A7-1A91-8DF52E4FB0AD}"/>
              </a:ext>
            </a:extLst>
          </p:cNvPr>
          <p:cNvSpPr txBox="1"/>
          <p:nvPr/>
        </p:nvSpPr>
        <p:spPr>
          <a:xfrm>
            <a:off x="8534400" y="2320584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期貨是</a:t>
            </a:r>
            <a:r>
              <a:rPr lang="zh-TW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即時洗價，只要一有成交就立刻計算</a:t>
            </a:r>
          </a:p>
        </p:txBody>
      </p:sp>
      <p:sp>
        <p:nvSpPr>
          <p:cNvPr id="720" name="文字方塊 719">
            <a:extLst>
              <a:ext uri="{FF2B5EF4-FFF2-40B4-BE49-F238E27FC236}">
                <a16:creationId xmlns:a16="http://schemas.microsoft.com/office/drawing/2014/main" id="{E6FF2BBA-F09C-F81E-1D4E-3CD108AC9BB6}"/>
              </a:ext>
            </a:extLst>
          </p:cNvPr>
          <p:cNvSpPr txBox="1"/>
          <p:nvPr/>
        </p:nvSpPr>
        <p:spPr>
          <a:xfrm>
            <a:off x="8562887" y="5897797"/>
            <a:ext cx="21986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不管是盤中還是結算，</a:t>
            </a:r>
            <a:endParaRPr lang="en-US" altLang="zh-TW" sz="11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1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一旦發生追繳，</a:t>
            </a:r>
            <a:endParaRPr lang="en-US" altLang="zh-TW" sz="11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1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必須</a:t>
            </a:r>
            <a:r>
              <a:rPr lang="zh-TW" altLang="en-US" sz="11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補錢補到 </a:t>
            </a:r>
            <a:r>
              <a:rPr lang="en-US" altLang="zh-TW" sz="11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100% </a:t>
            </a:r>
            <a:r>
              <a:rPr lang="zh-TW" altLang="en-US" sz="11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原始保證金</a:t>
            </a:r>
            <a:r>
              <a:rPr lang="zh-TW" altLang="en-US" sz="11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</a:t>
            </a:r>
            <a:endParaRPr lang="en-US" altLang="zh-TW" sz="1100" b="1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sz="11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為了確保錢可以安全地扣款</a:t>
            </a:r>
          </a:p>
        </p:txBody>
      </p:sp>
      <p:sp>
        <p:nvSpPr>
          <p:cNvPr id="721" name="文字方塊 720">
            <a:extLst>
              <a:ext uri="{FF2B5EF4-FFF2-40B4-BE49-F238E27FC236}">
                <a16:creationId xmlns:a16="http://schemas.microsoft.com/office/drawing/2014/main" id="{2D749F67-8DFE-39EF-FEB7-1811B112B935}"/>
              </a:ext>
            </a:extLst>
          </p:cNvPr>
          <p:cNvSpPr txBox="1"/>
          <p:nvPr/>
        </p:nvSpPr>
        <p:spPr>
          <a:xfrm>
            <a:off x="6240307" y="2724103"/>
            <a:ext cx="274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範例</a:t>
            </a:r>
          </a:p>
        </p:txBody>
      </p:sp>
    </p:spTree>
    <p:extLst>
      <p:ext uri="{BB962C8B-B14F-4D97-AF65-F5344CB8AC3E}">
        <p14:creationId xmlns:p14="http://schemas.microsoft.com/office/powerpoint/2010/main" val="269071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C1E856-E9E9-1334-53AE-421975E21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9647" y="1156890"/>
            <a:ext cx="11380355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雙向交易</a:t>
            </a: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當沖交易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定義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同一天完成買與賣的動作，不留倉過夜且需要設定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資格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任一期貨商開戶滿三個月</a:t>
            </a:r>
            <a:endParaRPr lang="en-US" altLang="zh-TW" sz="14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近一年內期貨契約成交十筆以上</a:t>
            </a:r>
            <a:endParaRPr lang="en-US" altLang="zh-TW" sz="14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當日沖銷保證金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&lt;= 50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萬，超過需要提供當沖保證金 </a:t>
            </a:r>
            <a:r>
              <a:rPr lang="en-US" altLang="zh-TW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30%</a:t>
            </a: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之財力證明</a:t>
            </a:r>
            <a:endParaRPr lang="en-US" altLang="zh-TW" sz="14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2001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zh-TW" altLang="en-US" sz="14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向期貨商簽署「當日沖銷交易風險預告書」和「同意書」</a:t>
            </a:r>
            <a:endParaRPr lang="en-US" altLang="zh-TW" sz="14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優點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kumimoji="0" lang="en-US" altLang="zh-TW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kumimoji="0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可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申請當沖保證金減半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缺點 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200" dirty="0">
                <a:solidFill>
                  <a:srgbClr val="E6E8F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收盤前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分鐘（結算日提前至</a:t>
            </a:r>
            <a:r>
              <a:rPr lang="en-US" altLang="zh-TW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13:15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）未平倉的部位會被強制平倉，國外商品保證金不足也會被強制平倉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TW" sz="4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zh-TW" sz="4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融資、融券、借券 </a:t>
            </a:r>
            <a:r>
              <a:rPr lang="en-US" altLang="zh-TW" sz="20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?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期貨是</a:t>
            </a:r>
            <a:r>
              <a:rPr lang="zh-TW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合約</a:t>
            </a:r>
            <a:r>
              <a:rPr lang="zh-TW" altLang="en-US" sz="1600" b="1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</a:t>
            </a:r>
            <a:r>
              <a:rPr lang="zh-TW" altLang="en-US" sz="160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無實體資產，無法擔任擔保品，且給付保證金比融資融券借券更低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TW" sz="20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期貨交易規則與機制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(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五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)</a:t>
            </a:r>
            <a:endParaRPr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3B93D9-47DD-AB6C-4F13-ACF19AE2C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99890"/>
              </p:ext>
            </p:extLst>
          </p:nvPr>
        </p:nvGraphicFramePr>
        <p:xfrm>
          <a:off x="838200" y="1619414"/>
          <a:ext cx="3287397" cy="77724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765137">
                  <a:extLst>
                    <a:ext uri="{9D8B030D-6E8A-4147-A177-3AD203B41FA5}">
                      <a16:colId xmlns:a16="http://schemas.microsoft.com/office/drawing/2014/main" val="3758230656"/>
                    </a:ext>
                  </a:extLst>
                </a:gridCol>
                <a:gridCol w="492915">
                  <a:extLst>
                    <a:ext uri="{9D8B030D-6E8A-4147-A177-3AD203B41FA5}">
                      <a16:colId xmlns:a16="http://schemas.microsoft.com/office/drawing/2014/main" val="3306571966"/>
                    </a:ext>
                  </a:extLst>
                </a:gridCol>
                <a:gridCol w="1536430">
                  <a:extLst>
                    <a:ext uri="{9D8B030D-6E8A-4147-A177-3AD203B41FA5}">
                      <a16:colId xmlns:a16="http://schemas.microsoft.com/office/drawing/2014/main" val="1843446319"/>
                    </a:ext>
                  </a:extLst>
                </a:gridCol>
                <a:gridCol w="492915">
                  <a:extLst>
                    <a:ext uri="{9D8B030D-6E8A-4147-A177-3AD203B41FA5}">
                      <a16:colId xmlns:a16="http://schemas.microsoft.com/office/drawing/2014/main" val="2694066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動作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情境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496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先買後賣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做多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買進建倉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-&gt;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賣出平倉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看漲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388644"/>
                  </a:ext>
                </a:extLst>
              </a:tr>
              <a:tr h="126522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先賣後買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做空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賣出建倉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-&gt;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買進平倉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看跌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016087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10DA334D-420F-9D81-BB6F-49F4D4546006}"/>
              </a:ext>
            </a:extLst>
          </p:cNvPr>
          <p:cNvSpPr/>
          <p:nvPr/>
        </p:nvSpPr>
        <p:spPr>
          <a:xfrm>
            <a:off x="4314825" y="1866900"/>
            <a:ext cx="2247900" cy="295275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36C34E-795E-8958-2A78-EDE8B3FDC9E2}"/>
              </a:ext>
            </a:extLst>
          </p:cNvPr>
          <p:cNvSpPr txBox="1"/>
          <p:nvPr/>
        </p:nvSpPr>
        <p:spPr>
          <a:xfrm>
            <a:off x="4100512" y="1372255"/>
            <a:ext cx="267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不需</a:t>
            </a:r>
            <a:r>
              <a:rPr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要向股票一樣</a:t>
            </a:r>
            <a:r>
              <a:rPr lang="zh-TW" altLang="en-US" dirty="0">
                <a:solidFill>
                  <a:schemeClr val="tx1"/>
                </a:solidFill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擔心券源問題</a:t>
            </a:r>
            <a:endParaRPr lang="en-US" altLang="zh-TW" dirty="0">
              <a:solidFill>
                <a:schemeClr val="tx1"/>
              </a:solidFill>
              <a:highlight>
                <a:srgbClr val="FFFF00"/>
              </a:highlight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只要有保證金，隨時可以按買賣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37F0695-1C49-A582-D477-6895AD2F4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990183"/>
              </p:ext>
            </p:extLst>
          </p:nvPr>
        </p:nvGraphicFramePr>
        <p:xfrm>
          <a:off x="6773169" y="1467461"/>
          <a:ext cx="5011420" cy="111252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916305">
                  <a:extLst>
                    <a:ext uri="{9D8B030D-6E8A-4147-A177-3AD203B41FA5}">
                      <a16:colId xmlns:a16="http://schemas.microsoft.com/office/drawing/2014/main" val="3758230656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3306571966"/>
                    </a:ext>
                  </a:extLst>
                </a:gridCol>
                <a:gridCol w="1754505">
                  <a:extLst>
                    <a:ext uri="{9D8B030D-6E8A-4147-A177-3AD203B41FA5}">
                      <a16:colId xmlns:a16="http://schemas.microsoft.com/office/drawing/2014/main" val="1843446319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694066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動作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動機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496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造市商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期貨商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履行報價義務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買賣掛單，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且</a:t>
                      </a:r>
                      <a:r>
                        <a:rPr lang="zh-TW" altLang="en-US" sz="11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價差鎖定在規定點數內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換取手續費減免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不遵守會被處罰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388644"/>
                  </a:ext>
                </a:extLst>
              </a:tr>
              <a:tr h="126522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隱形造市商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大戶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提供市場流動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大量買賣，消化散戶單量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避險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套利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016087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EF7E35B1-1996-522B-897C-A6058DD2E128}"/>
              </a:ext>
            </a:extLst>
          </p:cNvPr>
          <p:cNvSpPr txBox="1"/>
          <p:nvPr/>
        </p:nvSpPr>
        <p:spPr>
          <a:xfrm>
            <a:off x="4096644" y="2119804"/>
            <a:ext cx="2676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不怕買賣不掉，</a:t>
            </a:r>
            <a:r>
              <a:rPr lang="en-US" altLang="zh-TW" b="1" dirty="0">
                <a:solidFill>
                  <a:srgbClr val="FF00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WHY?</a:t>
            </a:r>
            <a:endParaRPr lang="zh-TW" altLang="en-US" b="1" dirty="0">
              <a:solidFill>
                <a:srgbClr val="FF000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234E8FD-178F-8E1C-CCDC-122925005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428320"/>
              </p:ext>
            </p:extLst>
          </p:nvPr>
        </p:nvGraphicFramePr>
        <p:xfrm>
          <a:off x="1352550" y="5314175"/>
          <a:ext cx="7632870" cy="111252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3130868">
                  <a:extLst>
                    <a:ext uri="{9D8B030D-6E8A-4147-A177-3AD203B41FA5}">
                      <a16:colId xmlns:a16="http://schemas.microsoft.com/office/drawing/2014/main" val="3758230656"/>
                    </a:ext>
                  </a:extLst>
                </a:gridCol>
                <a:gridCol w="904590">
                  <a:extLst>
                    <a:ext uri="{9D8B030D-6E8A-4147-A177-3AD203B41FA5}">
                      <a16:colId xmlns:a16="http://schemas.microsoft.com/office/drawing/2014/main" val="3306571966"/>
                    </a:ext>
                  </a:extLst>
                </a:gridCol>
                <a:gridCol w="3597412">
                  <a:extLst>
                    <a:ext uri="{9D8B030D-6E8A-4147-A177-3AD203B41FA5}">
                      <a16:colId xmlns:a16="http://schemas.microsoft.com/office/drawing/2014/main" val="1843446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股票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原因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496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融資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向券商借錢買股票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需利息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原始保證金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期貨制度本身就允許用小錢做大錢，不用再額外借錢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95702"/>
                  </a:ext>
                </a:extLst>
              </a:tr>
              <a:tr h="126522"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融券 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 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借券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向券商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他人借股票來賣</a:t>
                      </a:r>
                      <a:r>
                        <a:rPr lang="en-US" altLang="zh-TW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需付借券費外還要還券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無借貸關係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只要買賣雙方同意，合約就產生了</a:t>
                      </a:r>
                      <a:endParaRPr lang="en-US" altLang="zh-TW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100" dirty="0">
                          <a:highlight>
                            <a:srgbClr val="FFFF00"/>
                          </a:highlight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不需要</a:t>
                      </a: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真的去借一張台積電股票來賣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01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773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期貨交易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-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小額投資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(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多樣化商品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)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84810-3247-84D7-19C9-70D9D422C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1411" y="1274478"/>
            <a:ext cx="82806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這就像是期貨界的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『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零股交易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』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與零股交易不同 </a:t>
            </a:r>
            <a:r>
              <a:rPr lang="en-US" altLang="zh-TW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期貨的大小微型商品，</a:t>
            </a:r>
            <a:r>
              <a:rPr lang="zh-TW" altLang="en-US" sz="16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交易時間完全一樣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，而且是在</a:t>
            </a:r>
            <a:r>
              <a:rPr lang="zh-TW" altLang="en-US" sz="1600" dirty="0">
                <a:highlight>
                  <a:srgbClr val="FFFF00"/>
                </a:highlight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同一個市場</a:t>
            </a:r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撮合</a:t>
            </a:r>
            <a:endParaRPr lang="en-US" altLang="zh-TW" sz="1600" dirty="0">
              <a:solidFill>
                <a:schemeClr val="tx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69C592E-FCAB-569B-206E-827530AF4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294339"/>
              </p:ext>
            </p:extLst>
          </p:nvPr>
        </p:nvGraphicFramePr>
        <p:xfrm>
          <a:off x="1260474" y="1965328"/>
          <a:ext cx="7683183" cy="265684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1635443">
                  <a:extLst>
                    <a:ext uri="{9D8B030D-6E8A-4147-A177-3AD203B41FA5}">
                      <a16:colId xmlns:a16="http://schemas.microsoft.com/office/drawing/2014/main" val="2233375556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1596329765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3582754693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3575956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標準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小額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/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微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最低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大約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資金門檻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24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台指期 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–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大盤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200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點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50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元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微台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點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24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萬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萬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微台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1.2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058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電子期 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–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電子股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4000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小電子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點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500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電子期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28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萬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小電子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3.5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92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金融期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–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金融股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1000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小金融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點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250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金融期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萬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小金融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2.3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81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個股期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–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單一股票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口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2000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股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小型期貨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口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 100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標準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現股價格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x 2000 x 13.5%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小型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現股價格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x   100 x 13.5%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13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522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D6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>
            <a:spLocks noGrp="1"/>
          </p:cNvSpPr>
          <p:nvPr>
            <p:ph type="title"/>
          </p:nvPr>
        </p:nvSpPr>
        <p:spPr>
          <a:xfrm>
            <a:off x="838200" y="603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Microsoft JhengHei"/>
              <a:buNone/>
            </a:pP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期貨交易</a:t>
            </a:r>
            <a:r>
              <a:rPr lang="en-US" altLang="zh-TW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-</a:t>
            </a:r>
            <a:r>
              <a:rPr lang="zh-TW" altLang="en-US" b="1" dirty="0">
                <a:solidFill>
                  <a:srgbClr val="0070C0"/>
                </a:solidFill>
                <a:latin typeface="Microsoft JhengHei"/>
                <a:ea typeface="Microsoft JhengHei"/>
                <a:sym typeface="Microsoft JhengHei"/>
              </a:rPr>
              <a:t>套利</a:t>
            </a:r>
            <a:endParaRPr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1D10676-6E1A-ABFE-3F16-DD43022D7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005"/>
              </p:ext>
            </p:extLst>
          </p:nvPr>
        </p:nvGraphicFramePr>
        <p:xfrm>
          <a:off x="641349" y="1090616"/>
          <a:ext cx="10712451" cy="5552440"/>
        </p:xfrm>
        <a:graphic>
          <a:graphicData uri="http://schemas.openxmlformats.org/drawingml/2006/table">
            <a:tbl>
              <a:tblPr firstRow="1" bandRow="1">
                <a:tableStyleId>{A95AF51B-3FC6-4A1C-8DDA-F010F94E4356}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233375556"/>
                    </a:ext>
                  </a:extLst>
                </a:gridCol>
                <a:gridCol w="1292543">
                  <a:extLst>
                    <a:ext uri="{9D8B030D-6E8A-4147-A177-3AD203B41FA5}">
                      <a16:colId xmlns:a16="http://schemas.microsoft.com/office/drawing/2014/main" val="1596329765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582754693"/>
                    </a:ext>
                  </a:extLst>
                </a:gridCol>
                <a:gridCol w="2497455">
                  <a:extLst>
                    <a:ext uri="{9D8B030D-6E8A-4147-A177-3AD203B41FA5}">
                      <a16:colId xmlns:a16="http://schemas.microsoft.com/office/drawing/2014/main" val="3572746493"/>
                    </a:ext>
                  </a:extLst>
                </a:gridCol>
                <a:gridCol w="2073593">
                  <a:extLst>
                    <a:ext uri="{9D8B030D-6E8A-4147-A177-3AD203B41FA5}">
                      <a16:colId xmlns:a16="http://schemas.microsoft.com/office/drawing/2014/main" val="3575956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類型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情境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操作策略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實際操作與損益計算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結果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24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正價差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現貨：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22000</a:t>
                      </a:r>
                      <a:b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期貨：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22100</a:t>
                      </a:r>
                    </a:p>
                    <a:p>
                      <a:endParaRPr lang="zh-TW" altLang="en-US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買現貨</a:t>
                      </a:r>
                      <a:b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賣期貨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 indent="0">
                        <a:buNone/>
                      </a:pP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1.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進場</a:t>
                      </a:r>
                      <a:endParaRPr lang="en-US" altLang="zh-TW" sz="1100" b="1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pPr marL="0" lvl="8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 ● 買入現貨市值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440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萬</a:t>
                      </a:r>
                      <a:endParaRPr lang="en-US" altLang="zh-TW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pPr marL="0" lvl="8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 ● 賣出一口期貨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22100</a:t>
                      </a:r>
                    </a:p>
                    <a:p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2. 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結算日 </a:t>
                      </a: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假設都收在 </a:t>
                      </a: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22050)</a:t>
                      </a:r>
                      <a:endParaRPr lang="zh-TW" altLang="en-US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現貨賺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50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點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($+10000)</a:t>
                      </a: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期貨賺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50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點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($+10000)</a:t>
                      </a:r>
                      <a:b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(22100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賣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     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22050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買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)</a:t>
                      </a:r>
                      <a:endParaRPr lang="zh-TW" altLang="en-US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點價差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058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逆價差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現貨：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22100</a:t>
                      </a:r>
                      <a:b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期貨：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賣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</a:t>
                      </a:r>
                      <a:b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</a:t>
                      </a: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 indent="0">
                        <a:buNone/>
                      </a:pP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1.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進場</a:t>
                      </a:r>
                      <a:endParaRPr lang="en-US" altLang="zh-TW" sz="1100" b="1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pPr marL="0" lvl="8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 ● 放空現貨市值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440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萬</a:t>
                      </a:r>
                      <a:endParaRPr lang="en-US" altLang="zh-TW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pPr marL="0" lvl="8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 ● 買進一口期貨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22000</a:t>
                      </a:r>
                    </a:p>
                    <a:p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2. 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結算日 </a:t>
                      </a: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假設都收在 </a:t>
                      </a: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22050)</a:t>
                      </a:r>
                      <a:endParaRPr lang="zh-TW" altLang="en-US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現貨賺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50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點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($+10000)</a:t>
                      </a: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期貨賺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50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點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($+10000)</a:t>
                      </a:r>
                      <a:b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(22100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買              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22050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賣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)</a:t>
                      </a:r>
                      <a:endParaRPr lang="zh-TW" altLang="en-US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點價差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=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20000 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元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92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大小台套利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大台：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22000</a:t>
                      </a:r>
                      <a:b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小台：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買大台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口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賣小台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2" indent="0">
                        <a:buNone/>
                      </a:pP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1.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進場</a:t>
                      </a:r>
                      <a:endParaRPr lang="en-US" altLang="zh-TW" sz="1100" b="1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pPr marL="0" lvl="8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 ● 買進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口大台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22000</a:t>
                      </a:r>
                    </a:p>
                    <a:p>
                      <a:pPr marL="0" lvl="8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 ● 賣出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4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口小台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22010</a:t>
                      </a:r>
                    </a:p>
                    <a:p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2. 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平倉 </a:t>
                      </a: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</a:t>
                      </a:r>
                      <a:r>
                        <a:rPr lang="zh-TW" altLang="en-US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假設都收在 </a:t>
                      </a:r>
                      <a:r>
                        <a:rPr lang="en-US" altLang="zh-TW" sz="11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22005)</a:t>
                      </a:r>
                      <a:endParaRPr lang="zh-TW" altLang="en-US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大台賺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5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點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(5 x 200 = 1000)</a:t>
                      </a:r>
                    </a:p>
                    <a:p>
                      <a:r>
                        <a:rPr lang="zh-TW" altLang="en-US" sz="11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 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小台賺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5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點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(5 x 50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x</a:t>
                      </a:r>
                      <a:r>
                        <a:rPr lang="zh-TW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altLang="zh-TW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4 = 1000)</a:t>
                      </a:r>
                      <a:endParaRPr lang="zh-TW" altLang="en-US" sz="11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2000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81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除權息操作 </a:t>
                      </a:r>
                      <a:endParaRPr lang="en-US" altLang="zh-TW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節稅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100 </a:t>
                      </a: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張台積電</a:t>
                      </a:r>
                      <a:endParaRPr lang="en-US" altLang="zh-TW" b="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市值約 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r>
                        <a:rPr lang="zh-TW" altLang="en-US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億</a:t>
                      </a:r>
                      <a:r>
                        <a:rPr lang="en-US" altLang="zh-TW" b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除息前賣出 </a:t>
                      </a:r>
                      <a:r>
                        <a:rPr lang="en-US" altLang="zh-TW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現貨股票 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避開股利稅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b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同時買進 </a:t>
                      </a:r>
                      <a:r>
                        <a:rPr lang="en-US" altLang="zh-TW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個股期貨 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維持原本的投資部位</a:t>
                      </a:r>
                      <a:r>
                        <a:rPr lang="en-US" altLang="zh-TW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)</a:t>
                      </a:r>
                      <a:b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</a:br>
                      <a:r>
                        <a:rPr lang="zh-TW" altLang="en-US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除息後 </a:t>
                      </a:r>
                      <a:r>
                        <a:rPr lang="en-US" altLang="zh-TW" sz="1200" b="1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:</a:t>
                      </a:r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可選擇平倉期貨買回股票，或繼續持有期貨</a:t>
                      </a:r>
                    </a:p>
                    <a:p>
                      <a:endParaRPr lang="zh-TW" altLang="en-US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strike="sngStrike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參加除權息</a:t>
                      </a:r>
                      <a:endParaRPr lang="en-US" altLang="zh-TW" sz="1200" strike="sngStrike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r>
                        <a:rPr lang="zh-TW" altLang="en-US" sz="1200" strike="sngStrike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</a:t>
                      </a:r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領股利 </a:t>
                      </a:r>
                      <a:r>
                        <a:rPr lang="en-US" altLang="zh-TW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: 300</a:t>
                      </a:r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萬</a:t>
                      </a:r>
                      <a:endParaRPr lang="en-US" altLang="zh-TW" sz="1200" b="0" i="0" u="none" strike="sng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● 所得稅 </a:t>
                      </a:r>
                      <a:r>
                        <a:rPr lang="en-US" altLang="zh-TW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:</a:t>
                      </a:r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大約 </a:t>
                      </a:r>
                      <a:r>
                        <a:rPr lang="en-US" altLang="zh-TW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90.3</a:t>
                      </a:r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萬</a:t>
                      </a:r>
                      <a:endParaRPr lang="en-US" altLang="zh-TW" sz="1200" b="0" i="0" u="none" strike="sng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● 實際金額 </a:t>
                      </a:r>
                      <a:r>
                        <a:rPr lang="en-US" altLang="zh-TW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:</a:t>
                      </a:r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大約 </a:t>
                      </a:r>
                      <a:r>
                        <a:rPr lang="en-US" altLang="zh-TW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209.7</a:t>
                      </a:r>
                      <a:r>
                        <a:rPr lang="zh-TW" altLang="en-US" sz="1200" b="0" i="0" u="none" strike="sng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萬</a:t>
                      </a:r>
                      <a:endParaRPr lang="en-US" altLang="zh-TW" sz="1200" b="0" i="0" u="none" strike="sng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以期代股</a:t>
                      </a:r>
                      <a:endParaRPr lang="en-US" altLang="zh-TW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20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   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● 交易成本 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: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大約 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45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萬</a:t>
                      </a:r>
                      <a:endParaRPr lang="en-US" altLang="zh-TW" sz="1200" b="0" i="0" u="none" strike="noStrike" cap="none" dirty="0">
                        <a:solidFill>
                          <a:schemeClr val="dk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Calibri"/>
                        <a:sym typeface="Arial"/>
                      </a:endParaRPr>
                    </a:p>
                    <a:p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● 所得稅 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: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完全免稅</a:t>
                      </a:r>
                      <a:br>
                        <a:rPr lang="en-US" altLang="zh-TW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</a:br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   ● 實際金額 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: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大約 </a:t>
                      </a:r>
                      <a:r>
                        <a:rPr lang="en-US" altLang="zh-TW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255</a:t>
                      </a:r>
                      <a:r>
                        <a:rPr lang="zh-TW" alt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Calibri"/>
                          <a:sym typeface="Arial"/>
                        </a:rPr>
                        <a:t> 萬</a:t>
                      </a:r>
                      <a:endParaRPr lang="zh-TW" altLang="en-US" sz="120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大約賺 </a:t>
                      </a:r>
                      <a:r>
                        <a:rPr lang="en-US" altLang="zh-TW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45.3</a:t>
                      </a:r>
                      <a:r>
                        <a:rPr lang="zh-TW" altLang="en-US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96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18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4420</TotalTime>
  <Words>3618</Words>
  <Application>Microsoft Office PowerPoint</Application>
  <PresentationFormat>寬螢幕</PresentationFormat>
  <Paragraphs>483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Microsoft JhengHei UI</vt:lpstr>
      <vt:lpstr>Arial</vt:lpstr>
      <vt:lpstr>Calibri</vt:lpstr>
      <vt:lpstr>Microsoft JhengHei</vt:lpstr>
      <vt:lpstr>Office 佈景主題</vt:lpstr>
      <vt:lpstr>衍生性金融商品 – 期貨</vt:lpstr>
      <vt:lpstr>衍生性金融商品 – 期貨</vt:lpstr>
      <vt:lpstr>期貨的目的</vt:lpstr>
      <vt:lpstr>期貨的種類</vt:lpstr>
      <vt:lpstr>期貨交易規則與機制(一)</vt:lpstr>
      <vt:lpstr>期貨交易規則與機制(二)</vt:lpstr>
      <vt:lpstr>期貨交易規則與機制(三)</vt:lpstr>
      <vt:lpstr>期貨交易規則與機制(四)</vt:lpstr>
      <vt:lpstr>期貨交易規則與機制(五)</vt:lpstr>
      <vt:lpstr>期貨交易-小額投資(多樣化商品)</vt:lpstr>
      <vt:lpstr>期貨交易-套利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Shu-An Chen</dc:creator>
  <cp:lastModifiedBy>宗宇-土豆 簡</cp:lastModifiedBy>
  <cp:revision>129</cp:revision>
  <dcterms:created xsi:type="dcterms:W3CDTF">2024-11-01T05:06:57Z</dcterms:created>
  <dcterms:modified xsi:type="dcterms:W3CDTF">2025-12-10T03:02:03Z</dcterms:modified>
</cp:coreProperties>
</file>